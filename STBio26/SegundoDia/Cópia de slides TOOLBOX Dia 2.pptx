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10287000" cx="18288000"/>
  <p:notesSz cx="10287000" cy="18288000"/>
  <p:embeddedFontLst>
    <p:embeddedFont>
      <p:font typeface="IBM Plex Sans"/>
      <p:regular r:id="rId35"/>
      <p:bold r:id="rId36"/>
      <p:italic r:id="rId37"/>
      <p:boldItalic r:id="rId38"/>
    </p:embeddedFont>
    <p:embeddedFont>
      <p:font typeface="IBM Plex Serif"/>
      <p:regular r:id="rId39"/>
      <p:bold r:id="rId40"/>
      <p:italic r:id="rId41"/>
      <p:boldItalic r:id="rId42"/>
    </p:embeddedFont>
    <p:embeddedFont>
      <p:font typeface="IBM Plex Sans Medium"/>
      <p:regular r:id="rId43"/>
      <p:bold r:id="rId44"/>
      <p:italic r:id="rId45"/>
      <p:boldItalic r:id="rId46"/>
    </p:embeddedFont>
    <p:embeddedFont>
      <p:font typeface="IBM Plex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erif-bold.fntdata"/><Relationship Id="rId42" Type="http://schemas.openxmlformats.org/officeDocument/2006/relationships/font" Target="fonts/IBMPlexSerif-boldItalic.fntdata"/><Relationship Id="rId41" Type="http://schemas.openxmlformats.org/officeDocument/2006/relationships/font" Target="fonts/IBMPlexSerif-italic.fntdata"/><Relationship Id="rId44" Type="http://schemas.openxmlformats.org/officeDocument/2006/relationships/font" Target="fonts/IBMPlexSansMedium-bold.fntdata"/><Relationship Id="rId43" Type="http://schemas.openxmlformats.org/officeDocument/2006/relationships/font" Target="fonts/IBMPlexSansMedium-regular.fntdata"/><Relationship Id="rId46" Type="http://schemas.openxmlformats.org/officeDocument/2006/relationships/font" Target="fonts/IBMPlexSansMedium-boldItalic.fntdata"/><Relationship Id="rId45" Type="http://schemas.openxmlformats.org/officeDocument/2006/relationships/font" Target="fonts/IBMPlexSa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BMPlexMono-bold.fntdata"/><Relationship Id="rId47" Type="http://schemas.openxmlformats.org/officeDocument/2006/relationships/font" Target="fonts/IBMPlexMono-regular.fntdata"/><Relationship Id="rId49" Type="http://schemas.openxmlformats.org/officeDocument/2006/relationships/font" Target="fonts/IBMPlex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font" Target="fonts/IBMPlexSans-regular.fntdata"/><Relationship Id="rId34" Type="http://schemas.openxmlformats.org/officeDocument/2006/relationships/slide" Target="slides/slide30.xml"/><Relationship Id="rId37" Type="http://schemas.openxmlformats.org/officeDocument/2006/relationships/font" Target="fonts/IBMPlexSans-italic.fntdata"/><Relationship Id="rId36" Type="http://schemas.openxmlformats.org/officeDocument/2006/relationships/font" Target="fonts/IBMPlexSans-bold.fntdata"/><Relationship Id="rId39" Type="http://schemas.openxmlformats.org/officeDocument/2006/relationships/font" Target="fonts/IBMPlexSerif-regular.fntdata"/><Relationship Id="rId38" Type="http://schemas.openxmlformats.org/officeDocument/2006/relationships/font" Target="fonts/IBMPlexSans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IBMPlex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Apresente-se e o objetivo da aula.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56efe8fa04d452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h56efe8fa04d452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h56efe8fa04d4527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6efe8fa04d4527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56efe8fa04d4527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h56efe8fa04d4527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630cd5172cd651d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h630cd5172cd651dd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630cd5172cd651d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630cd5172cd651dd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h630cd5172cd651dd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h630cd5172cd651dd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72917cbfe543c1a1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h72917cbfe543c1a1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h72917cbfe543c1a1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72917cbfe543c1a1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h72917cbfe543c1a1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h72917cbfe543c1a1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47280611e5537004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h47280611e5537004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h47280611e5537004_0_5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72917cbfe543c1a1_1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h72917cbfe543c1a1_1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h72917cbfe543c1a1_1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72917cbfe543c1a1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h72917cbfe543c1a1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72917cbfe543c1a1_1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47280611e5537004_0_6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h47280611e5537004_0_6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h47280611e5537004_0_6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72917cbfe543c1a1_1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h72917cbfe543c1a1_1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h72917cbfe543c1a1_1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h72917cbfe543c1a1_1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h72917cbfe543c1a1_1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h72917cbfe543c1a1_1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72917cbfe543c1a1_1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h72917cbfe543c1a1_1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72917cbfe543c1a1_1_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h72917cbfe543c1a1_1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h72917cbfe543c1a1_1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h72917cbfe543c1a1_1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h47280611e553700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h47280611e553700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h47280611e5537004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47280611e5537004_0_7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h47280611e5537004_0_7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h47280611e5537004_0_7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h47280611e553700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h47280611e553700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h47280611e5537004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h47280611e5537004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h47280611e5537004_0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h47280611e5537004_0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h47280611e5537004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h47280611e5537004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h47280611e5537004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h47280611e5537004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h47280611e5537004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h47280611e5537004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h47280611e553700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h47280611e553700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h47280611e5537004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h47280611e553700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h47280611e553700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h47280611e553700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cell.com/pb-assets/products/coronavirus/CELL_CELL-D-20-00985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hyperlink" Target="https://github.com/211295/Workshop/releases/tag/Toolbox_bioinform%C3%A1tica" TargetMode="External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4A6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7750" y="952500"/>
            <a:ext cx="942975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47750" y="1645925"/>
            <a:ext cx="9714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91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Toolbox de Bioinformática</a:t>
            </a:r>
            <a:endParaRPr b="0" i="0" sz="9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47750" y="4427220"/>
            <a:ext cx="942975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58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Segundo dia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8054350"/>
            <a:ext cx="11316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450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Leandro de B. Gonçalves e Felipe S. Salles</a:t>
            </a:r>
            <a:endParaRPr b="0" i="0" sz="4500" u="none" cap="none" strike="noStrike">
              <a:solidFill>
                <a:srgbClr val="FAF8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47750" y="8724895"/>
            <a:ext cx="9429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Semana Temática da Biologia · IB-USP · outubro 2026</a:t>
            </a:r>
            <a:endParaRPr b="0" i="0" sz="3300" u="none" cap="none" strike="noStrike">
              <a:solidFill>
                <a:srgbClr val="F9F6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0" y="952500"/>
            <a:ext cx="5334000" cy="4079677"/>
          </a:xfrm>
          <a:prstGeom prst="rect">
            <a:avLst/>
          </a:prstGeom>
          <a:noFill/>
          <a:ln cap="flat" cmpd="sng" w="9525">
            <a:solidFill>
              <a:srgbClr val="151B2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11840" y="8724900"/>
            <a:ext cx="222242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67660" y="8782050"/>
            <a:ext cx="167259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Hoje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47750" y="1402080"/>
            <a:ext cx="17811750" cy="967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Agenda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47750" y="2865120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47750" y="3992880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047750" y="325755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190750" y="3166110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Tópico de abertura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144750" y="3318510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14:00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47750" y="5120640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047750" y="438531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190750" y="4293870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Conceitos fundamentais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144750" y="4446270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14:20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47750" y="6248400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47750" y="551307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190750" y="5421630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Prática guiada no terminal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5144750" y="5574030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15:00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47750" y="7376160"/>
            <a:ext cx="16192500" cy="1524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047750" y="6640830"/>
            <a:ext cx="121920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190750" y="6549390"/>
            <a:ext cx="1445895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Exercício e discussão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144750" y="6701790"/>
            <a:ext cx="20955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16:00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Com os dados de RNA-seq podemos fazer...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047750" y="2484050"/>
            <a:ext cx="167208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 de: tipo de biblioteca, número de réplicas, profundidade, tamanho das leitura, ...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047750" y="3688250"/>
            <a:ext cx="15861300" cy="6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Expressão diferencial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Resposta a estímulos/coondições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Redes de coexpressão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Delimitação de tipos celulares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Bioprospecção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Chamada de SNPs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Splicing 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Montar/anotar genomas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Redes de regulação (miRNAs, lncRNAs, etc)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 de seleção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69900" lvl="0" marL="45720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800"/>
              <a:buFont typeface="IBM Plex Sans"/>
              <a:buChar char="●"/>
            </a:pPr>
            <a:r>
              <a:rPr lang="en-US" sz="3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Evolução de níveis de expressão por famílias gênicas</a:t>
            </a:r>
            <a:endParaRPr sz="3800">
              <a:solidFill>
                <a:srgbClr val="474E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 em Bioinformática</a:t>
            </a:r>
            <a:endParaRPr b="1" sz="5100">
              <a:solidFill>
                <a:srgbClr val="151B2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t/>
            </a:r>
            <a:endParaRPr b="1" sz="5100">
              <a:solidFill>
                <a:srgbClr val="151B2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1047750" y="2484050"/>
            <a:ext cx="158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MSA (alinhamento múltiplo) Vs. Alinhamento de </a:t>
            </a:r>
            <a:r>
              <a:rPr b="1"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leituras</a:t>
            </a:r>
            <a:r>
              <a:rPr b="1"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 curtas</a:t>
            </a:r>
            <a:endParaRPr b="1"/>
          </a:p>
        </p:txBody>
      </p:sp>
      <p:sp>
        <p:nvSpPr>
          <p:cNvPr id="65" name="Google Shape;65;p6"/>
          <p:cNvSpPr txBox="1"/>
          <p:nvPr/>
        </p:nvSpPr>
        <p:spPr>
          <a:xfrm>
            <a:off x="1390125" y="3361600"/>
            <a:ext cx="5636400" cy="6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Conjunto sequências (genes, proteínas, CDS, etc) 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Busca de homologia </a:t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Métodos estimativos (distância) </a:t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Variações como SNPs são entendidas como produtos da evolução</a:t>
            </a:r>
            <a:endParaRPr sz="3300"/>
          </a:p>
        </p:txBody>
      </p:sp>
      <p:sp>
        <p:nvSpPr>
          <p:cNvPr id="66" name="Google Shape;66;p6"/>
          <p:cNvSpPr txBox="1"/>
          <p:nvPr/>
        </p:nvSpPr>
        <p:spPr>
          <a:xfrm>
            <a:off x="8088050" y="3361550"/>
            <a:ext cx="7302000" cy="6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Milhões de </a:t>
            </a:r>
            <a:r>
              <a:rPr i="1" lang="en-US" sz="3300"/>
              <a:t>reads</a:t>
            </a:r>
            <a:r>
              <a:rPr lang="en-US" sz="3300"/>
              <a:t> contra uma referência ou “Scaffolding”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Busca por “endereço”</a:t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Métodos heurísticos (descoberta)</a:t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Profundidade</a:t>
            </a:r>
            <a:r>
              <a:rPr lang="en-US" sz="3300"/>
              <a:t> e cobertura</a:t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en-US" sz="3300"/>
              <a:t>Variantes não são consideradas processos evolutivos</a:t>
            </a:r>
            <a:endParaRPr sz="3300"/>
          </a:p>
        </p:txBody>
      </p:sp>
      <p:pic>
        <p:nvPicPr>
          <p:cNvPr id="67" name="Google Shape;6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175" y="3190900"/>
            <a:ext cx="15453651" cy="24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4650" y="6496825"/>
            <a:ext cx="12612700" cy="28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047750" y="1402080"/>
            <a:ext cx="157162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Sequenciamento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Illumina®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047750" y="2406372"/>
            <a:ext cx="14716125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O Illumina ainda é o padrão para RNA-seq. Plataformas como o NovaSeq X produzem bilhões de reads curtos (2×150 pb) por corrida, com baixo custo por amostra.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47750" y="3846552"/>
            <a:ext cx="3590925" cy="28879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1405890" y="3945612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672590" y="3945612"/>
            <a:ext cx="2341245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013835" y="3945612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1405890" y="4364712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1672590" y="4364712"/>
            <a:ext cx="1708785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3381375" y="4364712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1405890" y="4783812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672590" y="4783812"/>
            <a:ext cx="2053709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3726299" y="4783812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405890" y="5202912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672590" y="5202912"/>
            <a:ext cx="1363861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3036451" y="5202912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405890" y="5622012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1672590" y="5622012"/>
            <a:ext cx="1881187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3553778" y="5622012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1405890" y="6041112"/>
            <a:ext cx="296088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adaptador · inserto · adaptador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047750" y="7001233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047750" y="7427952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Construção de Biblioteca de cDNA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047750" y="8281392"/>
            <a:ext cx="3698653" cy="963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RNA convertido em cDNA, fragmentado e ligado a adaptadores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600575" y="3846552"/>
            <a:ext cx="685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474684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248275" y="3846552"/>
            <a:ext cx="3590925" cy="28575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5689521" y="4071342"/>
            <a:ext cx="381000" cy="381000"/>
          </a:xfrm>
          <a:prstGeom prst="ellipse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651421" y="407134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65332" y="4071342"/>
            <a:ext cx="381000" cy="381000"/>
          </a:xfrm>
          <a:prstGeom prst="ellipse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6427232" y="407134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241143" y="4071342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203043" y="407134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016954" y="4071342"/>
            <a:ext cx="381000" cy="381000"/>
          </a:xfrm>
          <a:prstGeom prst="ellipse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978854" y="407134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5199" y="5782033"/>
            <a:ext cx="3117078" cy="56388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485199" y="6327308"/>
            <a:ext cx="3117078" cy="18605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485199" y="5782033"/>
            <a:ext cx="3117078" cy="18605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485199" y="5782033"/>
            <a:ext cx="15240" cy="56388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87037" y="5782033"/>
            <a:ext cx="15240" cy="56388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473065" y="4879062"/>
            <a:ext cx="381000" cy="381000"/>
          </a:xfrm>
          <a:prstGeom prst="ellipse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434965" y="487906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625465" y="5202912"/>
            <a:ext cx="76200" cy="6477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62546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758815" y="4879062"/>
            <a:ext cx="381000" cy="381000"/>
          </a:xfrm>
          <a:prstGeom prst="ellipse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720715" y="487906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911215" y="5202912"/>
            <a:ext cx="76200" cy="6477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91121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044565" y="4879062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006465" y="487906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196965" y="5202912"/>
            <a:ext cx="76200" cy="6477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19696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577965" y="5164812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539865" y="516481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730365" y="5488662"/>
            <a:ext cx="76200" cy="3619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73036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863715" y="5164812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825615" y="516481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016115" y="5488662"/>
            <a:ext cx="76200" cy="3619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01611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149465" y="5164812"/>
            <a:ext cx="381000" cy="381000"/>
          </a:xfrm>
          <a:prstGeom prst="ellipse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111365" y="516481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301865" y="5488662"/>
            <a:ext cx="76200" cy="36195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730186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682865" y="4879062"/>
            <a:ext cx="381000" cy="381000"/>
          </a:xfrm>
          <a:prstGeom prst="ellipse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644765" y="487906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835265" y="5202912"/>
            <a:ext cx="76200" cy="6477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83526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968615" y="4879062"/>
            <a:ext cx="381000" cy="381000"/>
          </a:xfrm>
          <a:prstGeom prst="ellipse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930515" y="487906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121015" y="5202912"/>
            <a:ext cx="76200" cy="6477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12101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254365" y="4879062"/>
            <a:ext cx="381000" cy="381000"/>
          </a:xfrm>
          <a:prstGeom prst="ellipse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216265" y="4879062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406765" y="5202912"/>
            <a:ext cx="76200" cy="6477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406765" y="5850612"/>
            <a:ext cx="76200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248275" y="6970752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248275" y="7397472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Sequenciamento na flowcell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248275" y="8250912"/>
            <a:ext cx="3698653" cy="963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Fragmentos formam clusters e são lidos base a base com fluorescência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801100" y="3846552"/>
            <a:ext cx="685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474684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448800" y="3846552"/>
            <a:ext cx="3590925" cy="28879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9806940" y="4259937"/>
            <a:ext cx="316211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14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2A914B"/>
                </a:solidFill>
                <a:latin typeface="IBM Plex Mono"/>
                <a:ea typeface="IBM Plex Mono"/>
                <a:cs typeface="IBM Plex Mono"/>
                <a:sym typeface="IBM Plex Mono"/>
              </a:rPr>
              <a:t>R1 forward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806940" y="4699992"/>
            <a:ext cx="1667232" cy="17145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1474173" y="4633317"/>
            <a:ext cx="205740" cy="3048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1474173" y="4633317"/>
            <a:ext cx="205740" cy="3048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9806940" y="5185767"/>
            <a:ext cx="266700" cy="20955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0073640" y="5185767"/>
            <a:ext cx="2341245" cy="209550"/>
          </a:xfrm>
          <a:prstGeom prst="rect">
            <a:avLst/>
          </a:prstGeom>
          <a:solidFill>
            <a:srgbClr val="474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2414885" y="5185767"/>
            <a:ext cx="266700" cy="20955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0808614" y="5642967"/>
            <a:ext cx="205740" cy="3048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1014353" y="5709642"/>
            <a:ext cx="1667232" cy="17145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1309985" y="6023967"/>
            <a:ext cx="150876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C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3A7BCB"/>
                </a:solidFill>
                <a:latin typeface="IBM Plex Mono"/>
                <a:ea typeface="IBM Plex Mono"/>
                <a:cs typeface="IBM Plex Mono"/>
                <a:sym typeface="IBM Plex Mono"/>
              </a:rPr>
              <a:t>R2 reverse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448800" y="7001233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448800" y="7427952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Leituras forward e reverse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448800" y="8281392"/>
            <a:ext cx="3698653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fragmento é lido pelas duas pontas (paired-end)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001625" y="3846552"/>
            <a:ext cx="685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474684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3649325" y="3846552"/>
            <a:ext cx="3590925" cy="288798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3950315" y="4094202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@READ_1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3950315" y="4486632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GATTTGGGGTTCAA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3950315" y="4879062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3950315" y="5271492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IIIIHHGG@@?+&amp;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3950315" y="5797272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@READ_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3950315" y="6189702"/>
            <a:ext cx="32878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CCTAGGACTTAGCA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3649325" y="7001233"/>
            <a:ext cx="395001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3649325" y="7427952"/>
            <a:ext cx="3698653" cy="815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Leituras brutas em FASTQ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3649325" y="8281392"/>
            <a:ext cx="3698653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 e qualidade de cada base, em arquivos R1 e R2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Conceitos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034307" y="1614935"/>
            <a:ext cx="17329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700" lIns="24700" spcFirstLastPara="1" rIns="24700" wrap="square" tIns="24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4962"/>
              <a:buFont typeface="IBM Plex Serif"/>
              <a:buNone/>
            </a:pPr>
            <a:r>
              <a:rPr b="1" i="0" lang="en-US" sz="4962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Cobertura × profundidade</a:t>
            </a:r>
            <a:endParaRPr b="0" i="0" sz="49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758627" y="4051648"/>
            <a:ext cx="15852000" cy="393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7610714" y="3953310"/>
            <a:ext cx="196800" cy="2361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247269" y="4405665"/>
            <a:ext cx="39300" cy="25272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148931" y="6932953"/>
            <a:ext cx="236100" cy="1968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758627" y="4405665"/>
            <a:ext cx="16048800" cy="157200"/>
          </a:xfrm>
          <a:prstGeom prst="roundRect">
            <a:avLst>
              <a:gd fmla="val 50000" name="adj"/>
            </a:avLst>
          </a:prstGeom>
          <a:solidFill>
            <a:srgbClr val="D4D1CA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758627" y="4405665"/>
            <a:ext cx="7191000" cy="1572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0662397" y="4405665"/>
            <a:ext cx="7043700" cy="1572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758627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511133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918596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215305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577902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0662397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2103540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3671540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5289323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6582836" y="478918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758627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650773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921791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240996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683738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1002645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2854719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14161018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5485015" y="497602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758627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722929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160876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523472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7826573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1177564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3718127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5400077" y="5162868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2222413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994219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266835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539452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1240132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3926727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6171906" y="534971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2601138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143447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408073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695195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11355679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14008593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6204112" y="5536553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970274" y="572339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258993" y="572339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693745" y="572339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000043" y="572339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1671836" y="572339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4092057" y="5723395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221994" y="591023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769096" y="591023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7142879" y="591023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14249275" y="591023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329551" y="609708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778807" y="609708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158982" y="609708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14369740" y="6097080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4334345" y="6283922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900746" y="6283922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7192662" y="6283922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14398626" y="6283922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433912" y="6470764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911933" y="6470764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301817" y="6470764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14438698" y="6470764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934576" y="665760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379039" y="665760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4648896" y="6657607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041985" y="6844449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14701877" y="6844449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631528" y="7031291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14703474" y="7031291"/>
            <a:ext cx="1123500" cy="98400"/>
          </a:xfrm>
          <a:prstGeom prst="roundRect">
            <a:avLst>
              <a:gd fmla="val 50000" name="adj"/>
            </a:avLst>
          </a:prstGeom>
          <a:solidFill>
            <a:srgbClr val="AD6800"/>
          </a:solidFill>
          <a:ln>
            <a:noFill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 rot="-5400000">
            <a:off x="-1016750" y="5081527"/>
            <a:ext cx="3616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25" lIns="26225" spcFirstLastPara="1" rIns="26225" wrap="square" tIns="2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6800"/>
              </a:buClr>
              <a:buSzPts val="2633"/>
              <a:buFont typeface="IBM Plex Sans"/>
              <a:buNone/>
            </a:pPr>
            <a:r>
              <a:rPr b="1" lang="en-US" sz="3149">
                <a:solidFill>
                  <a:srgbClr val="AD68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←</a:t>
            </a:r>
            <a:r>
              <a:rPr b="1" i="0" lang="en-US" sz="3149" u="none" cap="none" strike="noStrike">
                <a:solidFill>
                  <a:srgbClr val="AD68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Profundidade</a:t>
            </a:r>
            <a:endParaRPr b="0" i="0" sz="3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009474" y="7944298"/>
            <a:ext cx="8829900" cy="13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4700" lIns="24700" spcFirstLastPara="1" rIns="24700" wrap="square" tIns="247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481"/>
              <a:buFont typeface="IBM Plex Sans"/>
              <a:buNone/>
            </a:pPr>
            <a:r>
              <a:rPr b="0" i="0" lang="en-US" sz="2967" u="none" cap="none" strike="noStrike">
                <a:solidFill>
                  <a:srgbClr val="B45F06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Quantas vezes (número X</a:t>
            </a:r>
            <a:r>
              <a:rPr lang="en-US" sz="2967">
                <a:solidFill>
                  <a:srgbClr val="B45F06"/>
                </a:solidFill>
                <a:latin typeface="IBM Plex Sans"/>
                <a:ea typeface="IBM Plex Sans"/>
                <a:cs typeface="IBM Plex Sans"/>
                <a:sym typeface="IBM Plex Sans"/>
              </a:rPr>
              <a:t>) </a:t>
            </a:r>
            <a:r>
              <a:rPr b="0" i="0" lang="en-US" sz="2967" u="none" cap="none" strike="noStrike">
                <a:solidFill>
                  <a:srgbClr val="B45F06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 mesma base foi lida. </a:t>
            </a:r>
            <a:endParaRPr sz="2967">
              <a:solidFill>
                <a:srgbClr val="B45F0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10833" lvl="0" marL="444811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967"/>
              <a:buFont typeface="IBM Plex Sans"/>
              <a:buChar char="●"/>
            </a:pPr>
            <a:r>
              <a:rPr lang="en-US" sz="2967">
                <a:solidFill>
                  <a:srgbClr val="B45F0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Confiabilidade à sequência</a:t>
            </a:r>
            <a:endParaRPr sz="2967">
              <a:solidFill>
                <a:srgbClr val="B45F0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410833" lvl="0" marL="444811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2967"/>
              <a:buFont typeface="IBM Plex Sans"/>
              <a:buChar char="●"/>
            </a:pPr>
            <a:r>
              <a:rPr lang="en-US" sz="2967">
                <a:solidFill>
                  <a:srgbClr val="B45F06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Chamada de variantes</a:t>
            </a:r>
            <a:endParaRPr sz="2967">
              <a:solidFill>
                <a:srgbClr val="B45F0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758627" y="3497101"/>
            <a:ext cx="86757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25" lIns="26225" spcFirstLastPara="1" rIns="26225" wrap="square" tIns="2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CB"/>
              </a:buClr>
              <a:buSzPts val="2633"/>
              <a:buFont typeface="IBM Plex Sans"/>
              <a:buNone/>
            </a:pPr>
            <a:r>
              <a:rPr b="1" i="0" lang="en-US" sz="3149" u="none" cap="none" strike="noStrike">
                <a:solidFill>
                  <a:srgbClr val="3A7BCB"/>
                </a:solidFill>
                <a:latin typeface="IBM Plex Sans"/>
                <a:ea typeface="IBM Plex Sans"/>
                <a:cs typeface="IBM Plex Sans"/>
                <a:sym typeface="IBM Plex Sans"/>
              </a:rPr>
              <a:t>→ Cobertura</a:t>
            </a:r>
            <a:endParaRPr b="0" i="0" sz="31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674277" y="2784386"/>
            <a:ext cx="122076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25" lIns="26225" spcFirstLastPara="1" rIns="26225" wrap="square" tIns="26225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633"/>
              <a:buFont typeface="IBM Plex Sans"/>
              <a:buNone/>
            </a:pPr>
            <a:r>
              <a:rPr b="0" i="0" lang="en-US" sz="2942" u="none" cap="none" strike="noStrike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Quanto (em porcent</a:t>
            </a:r>
            <a:r>
              <a:rPr lang="en-US" sz="2942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b="0" i="0" lang="en-US" sz="2942" u="none" cap="none" strike="noStrike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gem %) da referência foi </a:t>
            </a:r>
            <a:r>
              <a:rPr lang="en-US" sz="2942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montada </a:t>
            </a:r>
            <a:r>
              <a:rPr b="0" i="0" lang="en-US" sz="2942" u="none" cap="none" strike="noStrike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pelas </a:t>
            </a:r>
            <a:r>
              <a:rPr b="0" i="1" lang="en-US" sz="2942" u="none" cap="none" strike="noStrike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reads</a:t>
            </a:r>
            <a:r>
              <a:rPr b="0" i="0" lang="en-US" sz="2942" u="none" cap="none" strike="noStrike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  <a:r>
              <a:rPr lang="en-US" sz="2942">
                <a:solidFill>
                  <a:srgbClr val="1155CC"/>
                </a:solidFill>
                <a:latin typeface="IBM Plex Sans"/>
                <a:ea typeface="IBM Plex Sans"/>
                <a:cs typeface="IBM Plex Sans"/>
                <a:sym typeface="IBM Plex Sans"/>
              </a:rPr>
              <a:t>Gera a informação primária</a:t>
            </a:r>
            <a:endParaRPr b="0" i="0" sz="2942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8"/>
          <p:cNvCxnSpPr/>
          <p:nvPr/>
        </p:nvCxnSpPr>
        <p:spPr>
          <a:xfrm>
            <a:off x="1761104" y="5277157"/>
            <a:ext cx="15847200" cy="7200"/>
          </a:xfrm>
          <a:prstGeom prst="straightConnector1">
            <a:avLst/>
          </a:prstGeom>
          <a:noFill/>
          <a:ln cap="flat" cmpd="sng" w="295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7" name="Google Shape;267;p8"/>
          <p:cNvSpPr/>
          <p:nvPr/>
        </p:nvSpPr>
        <p:spPr>
          <a:xfrm>
            <a:off x="6027916" y="4405670"/>
            <a:ext cx="196800" cy="2839800"/>
          </a:xfrm>
          <a:prstGeom prst="roundRect">
            <a:avLst>
              <a:gd fmla="val 16667" name="adj"/>
            </a:avLst>
          </a:prstGeom>
          <a:noFill/>
          <a:ln cap="flat" cmpd="sng" w="295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5"/>
          </a:p>
        </p:txBody>
      </p:sp>
      <p:sp>
        <p:nvSpPr>
          <p:cNvPr id="268" name="Google Shape;268;p8"/>
          <p:cNvSpPr txBox="1"/>
          <p:nvPr/>
        </p:nvSpPr>
        <p:spPr>
          <a:xfrm>
            <a:off x="5769088" y="7094248"/>
            <a:ext cx="112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97">
                <a:solidFill>
                  <a:srgbClr val="F68C3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10x</a:t>
            </a:r>
            <a:endParaRPr sz="3097">
              <a:solidFill>
                <a:srgbClr val="F68C3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0679665" y="4405670"/>
            <a:ext cx="196800" cy="2839800"/>
          </a:xfrm>
          <a:prstGeom prst="roundRect">
            <a:avLst>
              <a:gd fmla="val 16667" name="adj"/>
            </a:avLst>
          </a:prstGeom>
          <a:noFill/>
          <a:ln cap="flat" cmpd="sng" w="295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400" lIns="94400" spcFirstLastPara="1" rIns="94400" wrap="square" tIns="94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5"/>
          </a:p>
        </p:txBody>
      </p:sp>
      <p:sp>
        <p:nvSpPr>
          <p:cNvPr id="270" name="Google Shape;270;p8"/>
          <p:cNvSpPr txBox="1"/>
          <p:nvPr/>
        </p:nvSpPr>
        <p:spPr>
          <a:xfrm>
            <a:off x="10586409" y="7117816"/>
            <a:ext cx="769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4400" lIns="94400" spcFirstLastPara="1" rIns="94400" wrap="square" tIns="9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7">
                <a:solidFill>
                  <a:srgbClr val="F68C3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1x</a:t>
            </a:r>
            <a:endParaRPr sz="3097">
              <a:solidFill>
                <a:srgbClr val="F68C36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</a:t>
            </a: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47750" y="1402080"/>
            <a:ext cx="15716250" cy="737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Prática - Transcriptômica comparativa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047750" y="2634972"/>
            <a:ext cx="13735050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Vamos avaliar a mudança do perfil de transcrição de uma célula em dois contextos </a:t>
            </a: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diferentes</a:t>
            </a:r>
            <a:r>
              <a:rPr b="0" i="0" lang="en-US" sz="33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1017400" y="4051500"/>
            <a:ext cx="137352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latin typeface="IBM Plex Sans"/>
                <a:ea typeface="IBM Plex Sans"/>
                <a:cs typeface="IBM Plex Sans"/>
                <a:sym typeface="IBM Plex Sans"/>
              </a:rPr>
              <a:t>Células CALU-3 epitélio Pulmonar</a:t>
            </a:r>
            <a:endParaRPr b="1" sz="49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387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Controle </a:t>
            </a:r>
            <a:r>
              <a:rPr lang="en-US" sz="4900">
                <a:solidFill>
                  <a:srgbClr val="3C7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  <a:r>
              <a:rPr lang="en-US" sz="4900">
                <a:latin typeface="IBM Plex Sans"/>
                <a:ea typeface="IBM Plex Sans"/>
                <a:cs typeface="IBM Plex Sans"/>
                <a:sym typeface="IBM Plex Sans"/>
              </a:rPr>
              <a:t> I</a:t>
            </a:r>
            <a:r>
              <a:rPr lang="en-US" sz="4900">
                <a:solidFill>
                  <a:srgbClr val="99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nfectada com SARS-CoV-2</a:t>
            </a:r>
            <a:endParaRPr sz="4900">
              <a:solidFill>
                <a:srgbClr val="99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1047750" y="8347175"/>
            <a:ext cx="133086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IBM Plex Sans"/>
                <a:ea typeface="IBM Plex Sans"/>
                <a:cs typeface="IBM Plex Sans"/>
                <a:sym typeface="IBM Plex Sans"/>
              </a:rPr>
              <a:t>A referência é o trabalho de </a:t>
            </a:r>
            <a:r>
              <a:rPr lang="en-US" sz="33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/>
              </a:rPr>
              <a:t>Blanco-Melo et al., Cell 2020</a:t>
            </a:r>
            <a:endParaRPr sz="3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</a:t>
            </a: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· 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047750" y="1402080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Resumo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- Transcriptômica comparativa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047750" y="2671510"/>
            <a:ext cx="3905400" cy="1986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166850" y="3870423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5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166850" y="2943515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SEQUENCIAMENTO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166850" y="3444468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640400" y="2671510"/>
            <a:ext cx="3905400" cy="1986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6302625" y="3589543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759500" y="7906985"/>
            <a:ext cx="3905400" cy="1986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13360700" y="7906985"/>
            <a:ext cx="3905400" cy="1986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5547650" y="5374735"/>
            <a:ext cx="3905400" cy="1986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2803825" y="5936440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FASTQ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0177550" y="5383397"/>
            <a:ext cx="3905400" cy="1986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759500" y="3870423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5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640400" y="2799903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CONTROLE DE QUALIDADE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726300" y="6488748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5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607200" y="5744428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Montagem </a:t>
            </a:r>
            <a:r>
              <a:rPr b="1" i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novo</a:t>
            </a:r>
            <a:endParaRPr b="0" i="1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0356200" y="6487148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5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0296650" y="5607815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TRANSCRIPTOMA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938150" y="9107073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819050" y="8362745"/>
            <a:ext cx="36672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QUANTIFICAÇÃO DAS AMOSTRAS/  REPLICATAS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3539350" y="8983073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3420250" y="8238753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ANOTAÇÃO</a:t>
            </a: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 OU ENRIQUECIMENTO </a:t>
            </a: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FUNCIONAL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124700" y="3147325"/>
            <a:ext cx="2321700" cy="73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7958300" y="4752375"/>
            <a:ext cx="859200" cy="622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10693950" y="4752375"/>
            <a:ext cx="732900" cy="622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10671350" y="7420200"/>
            <a:ext cx="732900" cy="48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1695225" y="8531575"/>
            <a:ext cx="1694700" cy="73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5547650" y="2253950"/>
            <a:ext cx="10752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/>
              <a:t>💻</a:t>
            </a:r>
            <a:endParaRPr sz="5500"/>
          </a:p>
        </p:txBody>
      </p:sp>
      <p:sp>
        <p:nvSpPr>
          <p:cNvPr id="315" name="Google Shape;315;p10"/>
          <p:cNvSpPr txBox="1"/>
          <p:nvPr/>
        </p:nvSpPr>
        <p:spPr>
          <a:xfrm>
            <a:off x="8119175" y="6200750"/>
            <a:ext cx="12741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/>
              <a:t>🔁</a:t>
            </a:r>
            <a:endParaRPr sz="5500"/>
          </a:p>
        </p:txBody>
      </p:sp>
      <p:sp>
        <p:nvSpPr>
          <p:cNvPr id="316" name="Google Shape;316;p10"/>
          <p:cNvSpPr/>
          <p:nvPr/>
        </p:nvSpPr>
        <p:spPr>
          <a:xfrm>
            <a:off x="9508275" y="6042000"/>
            <a:ext cx="732900" cy="73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</a:t>
            </a: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· 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221225" y="3136698"/>
            <a:ext cx="3905400" cy="19869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3362725" y="4159644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2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362725" y="3491165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GENOMA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737925" y="3036735"/>
            <a:ext cx="3905400" cy="19869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9002200" y="3727735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9857013" y="3355978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047750" y="1614543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Resumo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- Alinhamento</a:t>
            </a: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: </a:t>
            </a: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transcriptoma</a:t>
            </a: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x genoma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9857013" y="4024457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2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FASTQ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773300" y="6303910"/>
            <a:ext cx="3905400" cy="19869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6892400" y="7441794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lang="en-US" sz="2200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BAM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892400" y="6773315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ALINHAMENTO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0714325" y="6772450"/>
            <a:ext cx="1293000" cy="10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12162050" y="6303910"/>
            <a:ext cx="3905400" cy="19869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12281150" y="7441794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12281150" y="7092140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VISUALIZAR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 rot="10800000">
            <a:off x="7126625" y="3425975"/>
            <a:ext cx="2633700" cy="2713500"/>
          </a:xfrm>
          <a:prstGeom prst="leftRigh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i="0" lang="en-US" sz="210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01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i="0" lang="en-US" sz="72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Baixando e preparando dados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 · 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047750" y="1634418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Banco de d</a:t>
            </a: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ados SRA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047900" y="2404400"/>
            <a:ext cx="137352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Sequencing Read Archive - é o maior repositório público do mundo para dados brutos de sequenciamento - </a:t>
            </a:r>
            <a:r>
              <a:rPr b="1" lang="en-US" sz="3300">
                <a:solidFill>
                  <a:srgbClr val="0B539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Serão nosso dados de </a:t>
            </a:r>
            <a:r>
              <a:rPr b="1" lang="en-US" sz="3300">
                <a:solidFill>
                  <a:srgbClr val="0B539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sequenciamento</a:t>
            </a:r>
            <a:endParaRPr b="1" i="0" sz="3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461210" y="10694427"/>
            <a:ext cx="5888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Terceiro ponto, fechando o raciocínio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047825" y="4318993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Projeto GENCODE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047975" y="5088985"/>
            <a:ext cx="137352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Consórcio </a:t>
            </a: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internacional</a:t>
            </a: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 para curadoria de características genéticas humanas e de camundongo - </a:t>
            </a:r>
            <a:r>
              <a:rPr b="1" lang="en-US" sz="3300">
                <a:solidFill>
                  <a:srgbClr val="0B539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Será nossa referência de transcriptoma humano</a:t>
            </a:r>
            <a:endParaRPr b="1" i="0" sz="3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047825" y="6754893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Genoma de SARS-CoV2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047975" y="7524885"/>
            <a:ext cx="137352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Genoma montado ainda em 2020 - </a:t>
            </a:r>
            <a:r>
              <a:rPr b="1" lang="en-US" sz="3300">
                <a:solidFill>
                  <a:srgbClr val="0B539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Será nossa referência para o transcriptoma viral</a:t>
            </a:r>
            <a:endParaRPr b="1" i="0" sz="33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Baixar o GENCODE e o Genoma de SARS-CoV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047750" y="2865120"/>
            <a:ext cx="73923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lang="en-US" sz="255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Wget</a:t>
            </a:r>
            <a:r>
              <a:rPr lang="en-US" sz="255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 - è o programa padrão do linux para baixar arquivos usando um link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1047750" y="4076700"/>
            <a:ext cx="71769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1047750" y="4396740"/>
            <a:ext cx="7894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-</a:t>
            </a:r>
            <a:r>
              <a:rPr lang="en-US" sz="26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047750" y="4785360"/>
            <a:ext cx="7894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lang="en-US" sz="26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nome para o </a:t>
            </a:r>
            <a:r>
              <a:rPr b="0" i="0" lang="en-US" sz="26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arquivo de </a:t>
            </a:r>
            <a:r>
              <a:rPr lang="en-US" sz="26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saída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8986718" y="2865120"/>
            <a:ext cx="8253300" cy="66600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9001959" y="3558540"/>
            <a:ext cx="82230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9268659" y="3070860"/>
            <a:ext cx="2263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terminal — bash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9306759" y="3916680"/>
            <a:ext cx="8374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32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# Genoma do SARS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9306751" y="4436750"/>
            <a:ext cx="7649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32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$</a:t>
            </a: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wget -O NC_045512.2.fa "https://eutils.ncbi.nlm.nih.gov/entrez/eutils/efetch.fcgi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9306759" y="5892055"/>
            <a:ext cx="8374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326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# 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Referência GENCODE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9306751" y="6412125"/>
            <a:ext cx="7649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32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$</a:t>
            </a: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wget https://ftp.ebi.ac.uk/pub/databases/gencode/Gencode_human/latest_release/gencode.v50.transcripts.fa.gz</a:t>
            </a:r>
            <a:endParaRPr sz="2100">
              <a:solidFill>
                <a:srgbClr val="151B2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marR="0" rtl="0" algn="l">
              <a:lnSpc>
                <a:spcPct val="11032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t/>
            </a:r>
            <a:endParaRPr sz="2100">
              <a:solidFill>
                <a:srgbClr val="151B2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379" name="Google Shape;379;p14"/>
          <p:cNvSpPr txBox="1"/>
          <p:nvPr/>
        </p:nvSpPr>
        <p:spPr>
          <a:xfrm>
            <a:off x="1153050" y="6131500"/>
            <a:ext cx="70992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IBM Plex Sans"/>
                <a:ea typeface="IBM Plex Sans"/>
                <a:cs typeface="IBM Plex Sans"/>
                <a:sym typeface="IBM Plex Sans"/>
              </a:rPr>
              <a:t>De onde estamos baixando?</a:t>
            </a:r>
            <a:br>
              <a:rPr lang="en-US" sz="3300"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-US" sz="330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3300">
                <a:latin typeface="IBM Plex Sans"/>
                <a:ea typeface="IBM Plex Sans"/>
                <a:cs typeface="IBM Plex Sans"/>
                <a:sym typeface="IBM Plex Sans"/>
              </a:rPr>
              <a:t>Lembra do NCBI e do ENA que falamos na primeira aula?</a:t>
            </a:r>
            <a:endParaRPr sz="33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80" name="Google Shape;3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75" y="3810125"/>
            <a:ext cx="8374800" cy="314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25" y="7035304"/>
            <a:ext cx="8253300" cy="3352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3575525"/>
            <a:ext cx="11687175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Baixar o GENCODE e o Genoma de SARS-CoV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10999825" y="5315575"/>
            <a:ext cx="1505700" cy="967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1136850" y="2488800"/>
            <a:ext cx="154368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Vamos no GitHub do nosso curso e clicar em Releases &gt; Arquivos SRR eGENCODE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92" name="Google Shape;392;p15"/>
          <p:cNvSpPr txBox="1"/>
          <p:nvPr/>
        </p:nvSpPr>
        <p:spPr>
          <a:xfrm>
            <a:off x="16960650" y="9740075"/>
            <a:ext cx="13275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-US"/>
              <a:t> </a:t>
            </a:r>
            <a:endParaRPr/>
          </a:p>
        </p:txBody>
      </p:sp>
      <p:pic>
        <p:nvPicPr>
          <p:cNvPr id="393" name="Google Shape;3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775" y="3456607"/>
            <a:ext cx="13853924" cy="39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Baixando e preparando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1047750" y="1402080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Arquivos do sequenciamento SRR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1047750" y="2634972"/>
            <a:ext cx="137352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04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3300"/>
              <a:buFont typeface="IBM Plex Sans"/>
              <a:buNone/>
            </a:pPr>
            <a:r>
              <a:rPr lang="en-US" sz="33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Vamos usar SRR11517744 (controle) e SRR11517748 (doença, para SARS-CoV2). Os Arquivos estarão no GitHub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4979477"/>
            <a:ext cx="11094958" cy="384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 · 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Curiosidade de novo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1461210" y="10694427"/>
            <a:ext cx="5888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Terceiro ponto, fechando o raciocínio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047750" y="1402080"/>
            <a:ext cx="178119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0961B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Curiosidade: 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 sem um GENCODE?</a:t>
            </a:r>
            <a:endParaRPr b="0" i="0" sz="5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1047750" y="2215872"/>
            <a:ext cx="178119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550"/>
              <a:buFont typeface="IBM Plex Sans"/>
              <a:buNone/>
            </a:pPr>
            <a:r>
              <a:rPr lang="en-US" sz="255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(</a:t>
            </a:r>
            <a:r>
              <a:rPr b="0" i="0" lang="en-US" sz="255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Ou seja, 99,999% das espécies)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1047750" y="3252192"/>
            <a:ext cx="178119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958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1" i="0" lang="en-US" sz="3300" u="none" cap="none" strike="noStrike">
                <a:solidFill>
                  <a:srgbClr val="314A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Montamos </a:t>
            </a:r>
            <a:r>
              <a:rPr b="1" lang="en-US" sz="3300">
                <a:solidFill>
                  <a:srgbClr val="314A6D"/>
                </a:solidFill>
                <a:latin typeface="IBM Plex Sans"/>
                <a:ea typeface="IBM Plex Sans"/>
                <a:cs typeface="IBM Plex Sans"/>
                <a:sym typeface="IBM Plex Sans"/>
              </a:rPr>
              <a:t>um</a:t>
            </a:r>
            <a:r>
              <a:rPr b="1" i="0" lang="en-US" sz="3300" u="none" cap="none" strike="noStrike">
                <a:solidFill>
                  <a:srgbClr val="314A6D"/>
                </a:solidFill>
                <a:latin typeface="IBM Plex Sans"/>
                <a:ea typeface="IBM Plex Sans"/>
                <a:cs typeface="IBM Plex Sans"/>
                <a:sym typeface="IBM Plex Sans"/>
              </a:rPr>
              <a:t> transcriptoma </a:t>
            </a:r>
            <a:r>
              <a:rPr b="1" i="1" lang="en-US" sz="3300" u="none" cap="none" strike="noStrike">
                <a:solidFill>
                  <a:srgbClr val="314A6D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novo</a:t>
            </a:r>
            <a:endParaRPr b="1" i="0" sz="3300" u="none" cap="none" strike="noStrike">
              <a:solidFill>
                <a:srgbClr val="314A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1047750" y="447901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047750" y="4962883"/>
            <a:ext cx="40128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 transcritos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1047750" y="548485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Trinity · SPAdes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298450" y="5081000"/>
            <a:ext cx="10071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5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5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5229225" y="447901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229225" y="4962883"/>
            <a:ext cx="40128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Avaliar completude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5229225" y="548485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BUSCO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8877300" y="5080992"/>
            <a:ext cx="6096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5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5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9410700" y="447901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9410700" y="4962883"/>
            <a:ext cx="40128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Descobrir CDS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9410700" y="548485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12797700" y="4922300"/>
            <a:ext cx="8706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50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5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3592175" y="4479012"/>
            <a:ext cx="401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13592175" y="4962883"/>
            <a:ext cx="37575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Anotar por espécie próxima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13592175" y="6146476"/>
            <a:ext cx="4012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BLAST</a:t>
            </a:r>
            <a:endParaRPr b="1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1047750" y="6833592"/>
            <a:ext cx="7867800" cy="19089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1405890" y="7153633"/>
            <a:ext cx="7866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257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BF525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Parálogos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1405890" y="7675602"/>
            <a:ext cx="73659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Cópias parecidas 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 embaralham </a:t>
            </a: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 um único transcrito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 e geram amis formas que existem de verdade</a:t>
            </a: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9372600" y="6833592"/>
            <a:ext cx="7867800" cy="19089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9730740" y="7153633"/>
            <a:ext cx="7866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257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BF5257"/>
                </a:solidFill>
                <a:latin typeface="IBM Plex Sans"/>
                <a:ea typeface="IBM Plex Sans"/>
                <a:cs typeface="IBM Plex Sans"/>
                <a:sym typeface="IBM Plex Sans"/>
              </a:rPr>
              <a:t>Quimeras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9730740" y="7675602"/>
            <a:ext cx="786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O montador une transcritos de genes diferentes</a:t>
            </a:r>
            <a:r>
              <a:rPr lang="en-US" sz="21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. NÃO EXISTE BIOLÒGICAMENTE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7"/>
          <p:cNvCxnSpPr/>
          <p:nvPr/>
        </p:nvCxnSpPr>
        <p:spPr>
          <a:xfrm flipH="1" rot="10800000">
            <a:off x="1043225" y="5896275"/>
            <a:ext cx="1170300" cy="97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17"/>
          <p:cNvCxnSpPr/>
          <p:nvPr/>
        </p:nvCxnSpPr>
        <p:spPr>
          <a:xfrm>
            <a:off x="2244025" y="5908725"/>
            <a:ext cx="6699900" cy="9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17"/>
          <p:cNvSpPr/>
          <p:nvPr/>
        </p:nvSpPr>
        <p:spPr>
          <a:xfrm>
            <a:off x="8846950" y="7555425"/>
            <a:ext cx="609600" cy="73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71C2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 txBox="1"/>
          <p:nvPr/>
        </p:nvSpPr>
        <p:spPr>
          <a:xfrm>
            <a:off x="13746300" y="5595513"/>
            <a:ext cx="609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⬇</a:t>
            </a:r>
            <a:endParaRPr sz="3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"/>
          <p:cNvSpPr/>
          <p:nvPr/>
        </p:nvSpPr>
        <p:spPr>
          <a:xfrm>
            <a:off x="1047750" y="952500"/>
            <a:ext cx="1781175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047750" y="5268159"/>
            <a:ext cx="17811750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02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047750" y="7801809"/>
            <a:ext cx="14668500" cy="9707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Controle de qualidade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1047750" y="9001125"/>
            <a:ext cx="125730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9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 · </a:t>
            </a:r>
            <a:r>
              <a:rPr lang="en-US" sz="18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Curiosidade de novo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461210" y="10694427"/>
            <a:ext cx="5888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Terceiro ponto, fechando o raciocínio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FASTQ e o Phred score</a:t>
            </a:r>
            <a:endParaRPr b="0" i="0" sz="5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1047750" y="2636520"/>
            <a:ext cx="8172000" cy="25833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1405890" y="3009900"/>
            <a:ext cx="20955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Cabeçalho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3539490" y="2956560"/>
            <a:ext cx="5854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@HWI-ST227:389:C4WA2ACXX:7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1405890" y="3533775"/>
            <a:ext cx="20955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3539490" y="3480435"/>
            <a:ext cx="5854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GGAGGAAGGTCCTCGCTCCTCTTTCATA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1405890" y="4057650"/>
            <a:ext cx="20955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Separador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3539490" y="4004310"/>
            <a:ext cx="5854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405890" y="4581525"/>
            <a:ext cx="20955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Qualidade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3539490" y="4528185"/>
            <a:ext cx="5854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FFFFHHH</a:t>
            </a:r>
            <a:r>
              <a:rPr b="1" i="0" lang="en-US" sz="2250" u="none" cap="none" strike="noStrike">
                <a:solidFill>
                  <a:srgbClr val="F9F6F2"/>
                </a:solidFill>
                <a:highlight>
                  <a:srgbClr val="2A914B"/>
                </a:highlight>
                <a:latin typeface="IBM Plex Mono"/>
                <a:ea typeface="IBM Plex Mono"/>
                <a:cs typeface="IBM Plex Mono"/>
                <a:sym typeface="IBM Plex Mono"/>
              </a:rPr>
              <a:t>J</a:t>
            </a: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IJJJJJIJJIGIG</a:t>
            </a:r>
            <a:r>
              <a:rPr b="1" i="0" lang="en-US" sz="2250" u="none" cap="none" strike="noStrike">
                <a:solidFill>
                  <a:srgbClr val="F9F6F2"/>
                </a:solidFill>
                <a:highlight>
                  <a:srgbClr val="AD6800"/>
                </a:highlight>
                <a:latin typeface="IBM Plex Mono"/>
                <a:ea typeface="IBM Plex Mono"/>
                <a:cs typeface="IBM Plex Mono"/>
                <a:sym typeface="IBM Plex Mono"/>
              </a:rPr>
              <a:t>?</a:t>
            </a: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?55</a:t>
            </a:r>
            <a:r>
              <a:rPr b="1" i="0" lang="en-US" sz="2250" u="none" cap="none" strike="noStrike">
                <a:solidFill>
                  <a:srgbClr val="F9F6F2"/>
                </a:solidFill>
                <a:highlight>
                  <a:srgbClr val="BF5257"/>
                </a:highlight>
                <a:latin typeface="IBM Plex Mono"/>
                <a:ea typeface="IBM Plex Mono"/>
                <a:cs typeface="IBM Plex Mono"/>
                <a:sym typeface="IBM Plex Mono"/>
              </a:rPr>
              <a:t>#</a:t>
            </a:r>
            <a:r>
              <a:rPr b="0" i="0" lang="en-US" sz="225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##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047750" y="5486400"/>
            <a:ext cx="8417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 e qualidade têm o mesmo tamanho: um caractere de nota para cada base.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1047750" y="6499860"/>
            <a:ext cx="423000" cy="4647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1162050" y="6518910"/>
            <a:ext cx="236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J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623060" y="6557010"/>
            <a:ext cx="863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 Q41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2562225" y="6557010"/>
            <a:ext cx="1239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excelente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4183142" y="6499860"/>
            <a:ext cx="423000" cy="4647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4297442" y="6518910"/>
            <a:ext cx="236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?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4758452" y="6557010"/>
            <a:ext cx="863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 Q30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5697617" y="6557010"/>
            <a:ext cx="1528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limiar usual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1047750" y="7155180"/>
            <a:ext cx="423000" cy="4647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1162050" y="7174230"/>
            <a:ext cx="236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#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1623060" y="7212330"/>
            <a:ext cx="702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 Q2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402205" y="7212330"/>
            <a:ext cx="1216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descartar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10134124" y="3105150"/>
            <a:ext cx="7106100" cy="2280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10362724" y="2636520"/>
            <a:ext cx="1219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Q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11505724" y="2636520"/>
            <a:ext cx="3028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erro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13983272" y="2636520"/>
            <a:ext cx="3028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acurácia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0134124" y="3973830"/>
            <a:ext cx="71061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10362724" y="3337560"/>
            <a:ext cx="1219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Q10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1505724" y="333756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13983272" y="333756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90%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0134124" y="4834890"/>
            <a:ext cx="71061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10362724" y="4198620"/>
            <a:ext cx="1219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Q20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1505724" y="419862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100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3983272" y="419862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99%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0134124" y="4850130"/>
            <a:ext cx="7106100" cy="8457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10362724" y="5059680"/>
            <a:ext cx="1219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550"/>
              <a:buFont typeface="IBM Plex Mono"/>
              <a:buNone/>
            </a:pPr>
            <a:r>
              <a:rPr b="1" i="0" lang="en-US" sz="255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Q30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1505724" y="505968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1.000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3983272" y="505968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99,9%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0134124" y="6541770"/>
            <a:ext cx="71061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10362724" y="5905500"/>
            <a:ext cx="1219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Q40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1505724" y="590550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em 10.000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3983272" y="5905500"/>
            <a:ext cx="3028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99,99%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10134124" y="6938010"/>
            <a:ext cx="78165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Q = −10 · log₁₀(P)</a:t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10134124" y="7593330"/>
            <a:ext cx="7319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+10 divide a chance de erro por 10. A nota vira caractere ASCII somando 33 (Phred+33).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1047750" y="922782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Adaptado de biocorecrg.github.io/PhD_course_genomics_format_2021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03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Criando um índex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1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04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Quantificando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· Conceitos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1047750" y="1402080"/>
            <a:ext cx="157161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246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TPM e fold change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1047750" y="2750820"/>
            <a:ext cx="83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60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900"/>
              <a:buFont typeface="IBM Plex Serif"/>
              <a:buNone/>
            </a:pPr>
            <a:r>
              <a:rPr b="1" i="0" lang="en-US" sz="3900" u="none" cap="none" strike="noStrike">
                <a:solidFill>
                  <a:srgbClr val="0961B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TPM = CONT</a:t>
            </a:r>
            <a:r>
              <a:rPr b="1" lang="en-US" sz="3900">
                <a:solidFill>
                  <a:srgbClr val="0961B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AGEM</a:t>
            </a:r>
            <a:endParaRPr b="0" i="0" sz="3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1047750" y="3461385"/>
            <a:ext cx="7789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Transcritos Por Milhão: deixa a expressão comparável entre transcritos e entre amostras.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1047750" y="4526280"/>
            <a:ext cx="75630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1047750" y="5989320"/>
            <a:ext cx="75630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"/>
          <p:cNvSpPr/>
          <p:nvPr/>
        </p:nvSpPr>
        <p:spPr>
          <a:xfrm>
            <a:off x="1047750" y="4732020"/>
            <a:ext cx="609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1771650" y="4732020"/>
            <a:ext cx="752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Contar reads por transcrito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1771650" y="5158740"/>
            <a:ext cx="70440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Reads compatíveis com mais de uma isoforma são divididas entre elas, por isso os valores saem fracionados.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1047750" y="7772400"/>
            <a:ext cx="75630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1047750" y="6195060"/>
            <a:ext cx="609600" cy="1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1771650" y="6195060"/>
            <a:ext cx="752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RPK = reads ÷ tamanho efetivo (kb)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1771650" y="6621780"/>
            <a:ext cx="70440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Reads Por Kilobase: transcritos longos recebem mais reads só por serem longos. O tamanho efetivo desconta o tamanho do fragmento.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1047750" y="9235440"/>
            <a:ext cx="75630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1047750" y="7978140"/>
            <a:ext cx="609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1771650" y="7978140"/>
            <a:ext cx="7522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1" i="0" lang="en-US" sz="21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TPM = RPK ÷ soma dos RPK × 10⁶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1771650" y="8404860"/>
            <a:ext cx="70440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Corrige a profundidade: toda amostra passa a somar 1 milhão, então dá para comparar amostras.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9677400" y="2750820"/>
            <a:ext cx="83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606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900"/>
              <a:buFont typeface="IBM Plex Serif"/>
              <a:buNone/>
            </a:pPr>
            <a:r>
              <a:rPr b="1" i="0" lang="en-US" sz="3900" u="none" cap="none" strike="noStrike">
                <a:solidFill>
                  <a:srgbClr val="0961B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Fold change = MUDANÇA</a:t>
            </a:r>
            <a:endParaRPr b="0" i="0" sz="3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9677400" y="3461385"/>
            <a:ext cx="7789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455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0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Quantas vezes a expressão mudou entre duas condições. Usamos em log₂.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9677400" y="4526280"/>
            <a:ext cx="7563000" cy="2263200"/>
          </a:xfrm>
          <a:prstGeom prst="rect">
            <a:avLst/>
          </a:prstGeom>
          <a:solidFill>
            <a:srgbClr val="EDEBE5"/>
          </a:solidFill>
          <a:ln cap="flat" cmpd="sng" w="152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9967079" y="4846320"/>
            <a:ext cx="1506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¼×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11336292" y="4846320"/>
            <a:ext cx="150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½×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2705630" y="4846320"/>
            <a:ext cx="150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1×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14074967" y="4846320"/>
            <a:ext cx="150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2×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15444312" y="4846320"/>
            <a:ext cx="1506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4×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0035540" y="5330190"/>
            <a:ext cx="6846600" cy="171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3A7BCB"/>
              </a:gs>
              <a:gs pos="50000">
                <a:srgbClr val="D4D1CA"/>
              </a:gs>
              <a:gs pos="100000">
                <a:srgbClr val="BF5257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10701099" y="5273040"/>
            <a:ext cx="38100" cy="28590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2"/>
          <p:cNvSpPr/>
          <p:nvPr/>
        </p:nvSpPr>
        <p:spPr>
          <a:xfrm>
            <a:off x="12070438" y="5273040"/>
            <a:ext cx="38100" cy="28590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13439775" y="5273040"/>
            <a:ext cx="38100" cy="28590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14808994" y="5273040"/>
            <a:ext cx="38100" cy="28590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16178332" y="5273040"/>
            <a:ext cx="38100" cy="285900"/>
          </a:xfrm>
          <a:prstGeom prst="rect">
            <a:avLst/>
          </a:prstGeom>
          <a:solidFill>
            <a:srgbClr val="15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9967079" y="5634990"/>
            <a:ext cx="1506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−2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11336292" y="5634990"/>
            <a:ext cx="150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−1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12705630" y="5634990"/>
            <a:ext cx="150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0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14074967" y="5634990"/>
            <a:ext cx="150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+1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15444312" y="5634990"/>
            <a:ext cx="1506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b="0" i="0" lang="en-US" sz="26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+2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10035552" y="6118850"/>
            <a:ext cx="3094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CB"/>
              </a:buClr>
              <a:buSzPts val="2100"/>
              <a:buFont typeface="IBM Plex Sans"/>
              <a:buNone/>
            </a:pPr>
            <a:r>
              <a:rPr b="1" i="0" lang="en-US" sz="2600" u="none" cap="none" strike="noStrike">
                <a:solidFill>
                  <a:srgbClr val="3A7BCB"/>
                </a:solidFill>
                <a:latin typeface="IBM Plex Sans"/>
                <a:ea typeface="IBM Plex Sans"/>
                <a:cs typeface="IBM Plex Sans"/>
                <a:sym typeface="IBM Plex Sans"/>
              </a:rPr>
              <a:t>← menos expresso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14397700" y="6118850"/>
            <a:ext cx="2694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5257"/>
              </a:buClr>
              <a:buSzPts val="2100"/>
              <a:buFont typeface="IBM Plex Sans"/>
              <a:buNone/>
            </a:pPr>
            <a:r>
              <a:rPr b="1" i="0" lang="en-US" sz="2600" u="none" cap="none" strike="noStrike">
                <a:solidFill>
                  <a:srgbClr val="BF5257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mais expresso →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9677400" y="6979920"/>
            <a:ext cx="831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130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log₂FC = log₂(tratado ÷ controle)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9677400" y="7570470"/>
            <a:ext cx="7789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lang="en-US" sz="21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recisa vir com o p-valor ajustado.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3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05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Visualização dos resultados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06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Enriquecimento funcional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5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Alinhamento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Anotação funcional</a:t>
            </a:r>
            <a:endParaRPr b="0" i="0" sz="5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1047750" y="2750820"/>
            <a:ext cx="4753200" cy="34824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5"/>
          <p:cNvSpPr/>
          <p:nvPr/>
        </p:nvSpPr>
        <p:spPr>
          <a:xfrm>
            <a:off x="1047750" y="2750820"/>
            <a:ext cx="4753200" cy="762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5"/>
          <p:cNvSpPr/>
          <p:nvPr/>
        </p:nvSpPr>
        <p:spPr>
          <a:xfrm>
            <a:off x="1352550" y="3093720"/>
            <a:ext cx="4558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1352550" y="3615690"/>
            <a:ext cx="45582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 identificado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/>
          <p:nvPr/>
        </p:nvSpPr>
        <p:spPr>
          <a:xfrm>
            <a:off x="1375350" y="4095723"/>
            <a:ext cx="42681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b="0" i="0" lang="en-US" sz="27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Sequência predita</a:t>
            </a:r>
            <a:r>
              <a:rPr lang="en-US" sz="27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atribuida um ID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1352550" y="4987290"/>
            <a:ext cx="12573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1501140" y="5059680"/>
            <a:ext cx="1036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Ensembl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/>
          <p:nvPr/>
        </p:nvSpPr>
        <p:spPr>
          <a:xfrm>
            <a:off x="2705100" y="4987290"/>
            <a:ext cx="11202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/>
          <p:nvPr/>
        </p:nvSpPr>
        <p:spPr>
          <a:xfrm>
            <a:off x="2853690" y="5059680"/>
            <a:ext cx="899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RefSeq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3920490" y="4987290"/>
            <a:ext cx="12573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5"/>
          <p:cNvSpPr/>
          <p:nvPr/>
        </p:nvSpPr>
        <p:spPr>
          <a:xfrm>
            <a:off x="4069080" y="5059680"/>
            <a:ext cx="1036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UniProt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5762983" y="4191000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6410683" y="2750820"/>
            <a:ext cx="4753500" cy="34824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6410683" y="2750820"/>
            <a:ext cx="4753500" cy="762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6715483" y="3093720"/>
            <a:ext cx="4558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6715483" y="3615690"/>
            <a:ext cx="45582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Reunir evidências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6715483" y="4175760"/>
            <a:ext cx="4268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lang="en-US" sz="2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Experimentos publicados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11126034" y="4191000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600"/>
              <a:buFont typeface="IBM Plex Mono"/>
              <a:buNone/>
            </a:pPr>
            <a:r>
              <a:rPr b="0" i="0" lang="en-US" sz="36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→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11773734" y="2750820"/>
            <a:ext cx="5466300" cy="3482400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11773734" y="2750820"/>
            <a:ext cx="5466300" cy="76200"/>
          </a:xfrm>
          <a:prstGeom prst="rect">
            <a:avLst/>
          </a:prstGeom>
          <a:solidFill>
            <a:srgbClr val="0961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12078534" y="3093720"/>
            <a:ext cx="5342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12078534" y="3615690"/>
            <a:ext cx="5342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7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Curadoria pelos consórcios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12078534" y="4175760"/>
            <a:ext cx="50025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1800"/>
              <a:buFont typeface="IBM Plex Sans"/>
              <a:buNone/>
            </a:pPr>
            <a:r>
              <a:rPr lang="en-US" sz="18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ESPECIALISTAS CRIAM BANCOS DE DADOS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12078534" y="4987290"/>
            <a:ext cx="20802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12227124" y="5059680"/>
            <a:ext cx="1859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Consortium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14254044" y="4987290"/>
            <a:ext cx="18060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14402634" y="5059680"/>
            <a:ext cx="1584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UniProt-GOA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12078534" y="5524500"/>
            <a:ext cx="8457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12227124" y="5596890"/>
            <a:ext cx="624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KEGG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13019604" y="5524500"/>
            <a:ext cx="3040500" cy="441900"/>
          </a:xfrm>
          <a:prstGeom prst="rect">
            <a:avLst/>
          </a:prstGeom>
          <a:noFill/>
          <a:ln cap="flat" cmpd="sng" w="15225">
            <a:solidFill>
              <a:srgbClr val="096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13168194" y="5596890"/>
            <a:ext cx="283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FlyBase · MGI · TAIR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1047750" y="6499860"/>
            <a:ext cx="32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465"/>
              </a:lnSpc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3300"/>
              <a:buFont typeface="IBM Plex Mono"/>
              <a:buNone/>
            </a:pPr>
            <a:r>
              <a:rPr b="0" i="0" lang="en-US" sz="3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↓</a:t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/>
          <p:nvPr/>
        </p:nvSpPr>
        <p:spPr>
          <a:xfrm>
            <a:off x="1489697" y="6560825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23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Termos padronizados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5177800" y="6642860"/>
            <a:ext cx="12062400" cy="762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5"/>
          <p:cNvSpPr/>
          <p:nvPr/>
        </p:nvSpPr>
        <p:spPr>
          <a:xfrm>
            <a:off x="1047750" y="7109460"/>
            <a:ext cx="3905400" cy="1986900"/>
          </a:xfrm>
          <a:prstGeom prst="rect">
            <a:avLst/>
          </a:prstGeom>
          <a:solidFill>
            <a:srgbClr val="2A9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/>
          <p:nvPr/>
        </p:nvSpPr>
        <p:spPr>
          <a:xfrm>
            <a:off x="1333500" y="7357110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· BP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5"/>
          <p:cNvSpPr/>
          <p:nvPr/>
        </p:nvSpPr>
        <p:spPr>
          <a:xfrm>
            <a:off x="1333500" y="7730490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Processo Biológico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1333500" y="8179118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apoptose, crescimento, respos</a:t>
            </a:r>
            <a:r>
              <a:rPr lang="en-US" sz="210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ta imune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5143500" y="7109460"/>
            <a:ext cx="3905400" cy="1986900"/>
          </a:xfrm>
          <a:prstGeom prst="rect">
            <a:avLst/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5"/>
          <p:cNvSpPr/>
          <p:nvPr/>
        </p:nvSpPr>
        <p:spPr>
          <a:xfrm>
            <a:off x="5429250" y="7357110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· MF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5429250" y="7730490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Função Molecular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5220188" y="8179125"/>
            <a:ext cx="38763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19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atividade de quinase, </a:t>
            </a:r>
            <a:r>
              <a:rPr lang="en-US" sz="190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ligação ao DNA, </a:t>
            </a:r>
            <a:r>
              <a:rPr lang="en-US" sz="190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Transportador</a:t>
            </a:r>
            <a:r>
              <a:rPr lang="en-US" sz="190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íons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9239250" y="7109460"/>
            <a:ext cx="3905400" cy="19869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5"/>
          <p:cNvSpPr/>
          <p:nvPr/>
        </p:nvSpPr>
        <p:spPr>
          <a:xfrm>
            <a:off x="9525000" y="7357110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GO · CC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9525000" y="7730490"/>
            <a:ext cx="3667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Componente Celular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9525000" y="8179118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mitocôndria, REL, Extracelular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13335000" y="7109460"/>
            <a:ext cx="3905400" cy="1986900"/>
          </a:xfrm>
          <a:prstGeom prst="rect">
            <a:avLst/>
          </a:prstGeom>
          <a:solidFill>
            <a:srgbClr val="BF52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5"/>
          <p:cNvSpPr/>
          <p:nvPr/>
        </p:nvSpPr>
        <p:spPr>
          <a:xfrm>
            <a:off x="13620750" y="7357110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Mono"/>
              <a:buNone/>
            </a:pPr>
            <a:r>
              <a:rPr b="1" i="0" lang="en-US" sz="1800" u="none" cap="none" strike="noStrike">
                <a:solidFill>
                  <a:srgbClr val="F9F6F2"/>
                </a:solidFill>
                <a:latin typeface="IBM Plex Mono"/>
                <a:ea typeface="IBM Plex Mono"/>
                <a:cs typeface="IBM Plex Mono"/>
                <a:sym typeface="IBM Plex Mono"/>
              </a:rPr>
              <a:t>KEGG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13620750" y="7730490"/>
            <a:ext cx="34338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77"/>
              </a:lnSpc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2550"/>
              <a:buFont typeface="IBM Plex Sans"/>
              <a:buNone/>
            </a:pPr>
            <a:r>
              <a:rPr b="1" i="0" lang="en-US" sz="255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Via metabólica ou de sinalização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13620700" y="8507845"/>
            <a:ext cx="3667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6F2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ex.: glic</a:t>
            </a:r>
            <a:r>
              <a:rPr lang="en-US" sz="1800">
                <a:solidFill>
                  <a:srgbClr val="F9F6F2"/>
                </a:solidFill>
                <a:latin typeface="IBM Plex Sans"/>
                <a:ea typeface="IBM Plex Sans"/>
                <a:cs typeface="IBM Plex Sans"/>
                <a:sym typeface="IBM Plex Sans"/>
              </a:rPr>
              <a:t>ogenólise, Ciclo de Krebs, Tradução de RNAs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6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07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1047750" y="7801800"/>
            <a:ext cx="168042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</a:t>
            </a:r>
            <a:r>
              <a:rPr b="1" lang="en-US" sz="7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transcriptoma x genoma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7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Genomas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Tecnologias de s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equencia</a:t>
            </a: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mento de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genomas</a:t>
            </a:r>
            <a:endParaRPr b="0" i="0" sz="5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1047750" y="263652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1047750" y="469011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1047750" y="3032760"/>
            <a:ext cx="5448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F68C36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7"/>
          <p:cNvSpPr/>
          <p:nvPr/>
        </p:nvSpPr>
        <p:spPr>
          <a:xfrm>
            <a:off x="1047750" y="3589020"/>
            <a:ext cx="51015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Síntese com nucleotídeos fluorescentes em clusters na flowcell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7"/>
          <p:cNvSpPr/>
          <p:nvPr/>
        </p:nvSpPr>
        <p:spPr>
          <a:xfrm>
            <a:off x="6762750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7297103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8111119" y="3057550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7"/>
          <p:cNvSpPr/>
          <p:nvPr/>
        </p:nvSpPr>
        <p:spPr>
          <a:xfrm>
            <a:off x="8606790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9190315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9835753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10385822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7"/>
          <p:cNvSpPr/>
          <p:nvPr/>
        </p:nvSpPr>
        <p:spPr>
          <a:xfrm>
            <a:off x="10959941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11560373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7"/>
          <p:cNvSpPr/>
          <p:nvPr/>
        </p:nvSpPr>
        <p:spPr>
          <a:xfrm>
            <a:off x="12160687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12808268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7"/>
          <p:cNvSpPr/>
          <p:nvPr/>
        </p:nvSpPr>
        <p:spPr>
          <a:xfrm>
            <a:off x="13496568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14130457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7"/>
          <p:cNvSpPr/>
          <p:nvPr/>
        </p:nvSpPr>
        <p:spPr>
          <a:xfrm>
            <a:off x="14691003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15254764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15833051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7"/>
          <p:cNvSpPr/>
          <p:nvPr/>
        </p:nvSpPr>
        <p:spPr>
          <a:xfrm>
            <a:off x="16476345" y="30575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7"/>
          <p:cNvSpPr/>
          <p:nvPr/>
        </p:nvSpPr>
        <p:spPr>
          <a:xfrm>
            <a:off x="6762750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7377232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7979376" y="3291638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7"/>
          <p:cNvSpPr/>
          <p:nvPr/>
        </p:nvSpPr>
        <p:spPr>
          <a:xfrm>
            <a:off x="8581549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7"/>
          <p:cNvSpPr/>
          <p:nvPr/>
        </p:nvSpPr>
        <p:spPr>
          <a:xfrm>
            <a:off x="9130665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9738360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10430827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11074241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11647289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12288560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7"/>
          <p:cNvSpPr/>
          <p:nvPr/>
        </p:nvSpPr>
        <p:spPr>
          <a:xfrm>
            <a:off x="12899351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13478827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14026753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14645998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15272504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15943064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16529804" y="330517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6762750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7255209" y="3525750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7842260" y="3525750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7"/>
          <p:cNvSpPr/>
          <p:nvPr/>
        </p:nvSpPr>
        <p:spPr>
          <a:xfrm>
            <a:off x="8615125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9280446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7"/>
          <p:cNvSpPr/>
          <p:nvPr/>
        </p:nvSpPr>
        <p:spPr>
          <a:xfrm>
            <a:off x="9975056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7"/>
          <p:cNvSpPr/>
          <p:nvPr/>
        </p:nvSpPr>
        <p:spPr>
          <a:xfrm>
            <a:off x="10647759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11220927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/>
          <p:nvPr/>
        </p:nvSpPr>
        <p:spPr>
          <a:xfrm>
            <a:off x="11908156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7"/>
          <p:cNvSpPr/>
          <p:nvPr/>
        </p:nvSpPr>
        <p:spPr>
          <a:xfrm>
            <a:off x="12546331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13208437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7"/>
          <p:cNvSpPr/>
          <p:nvPr/>
        </p:nvSpPr>
        <p:spPr>
          <a:xfrm>
            <a:off x="13785771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7"/>
          <p:cNvSpPr/>
          <p:nvPr/>
        </p:nvSpPr>
        <p:spPr>
          <a:xfrm>
            <a:off x="14381916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14942464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15548134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7"/>
          <p:cNvSpPr/>
          <p:nvPr/>
        </p:nvSpPr>
        <p:spPr>
          <a:xfrm>
            <a:off x="16143209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7"/>
          <p:cNvSpPr/>
          <p:nvPr/>
        </p:nvSpPr>
        <p:spPr>
          <a:xfrm>
            <a:off x="16707922" y="3552825"/>
            <a:ext cx="439800" cy="133500"/>
          </a:xfrm>
          <a:prstGeom prst="roundRect">
            <a:avLst>
              <a:gd fmla="val 50000" name="adj"/>
            </a:avLst>
          </a:prstGeom>
          <a:solidFill>
            <a:srgbClr val="FD7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7"/>
          <p:cNvSpPr/>
          <p:nvPr/>
        </p:nvSpPr>
        <p:spPr>
          <a:xfrm>
            <a:off x="6762750" y="3993975"/>
            <a:ext cx="102681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Mono"/>
              <a:buNone/>
            </a:pP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tamanho: 2 × 150 pb    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curácia: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~99,9%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qualidade média: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Q30+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1047750" y="674370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1047750" y="5086350"/>
            <a:ext cx="5448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ED68AE"/>
              </a:buClr>
              <a:buSzPts val="3300"/>
              <a:buFont typeface="IBM Plex Sans"/>
              <a:buNone/>
            </a:pPr>
            <a:r>
              <a:rPr b="1" lang="en-US" sz="3300">
                <a:solidFill>
                  <a:srgbClr val="ED68AE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</a:t>
            </a:r>
            <a:r>
              <a:rPr b="1" i="0" lang="en-US" sz="3300" u="none" cap="none" strike="noStrike">
                <a:solidFill>
                  <a:srgbClr val="ED68AE"/>
                </a:solidFill>
                <a:latin typeface="IBM Plex Sans"/>
                <a:ea typeface="IBM Plex Sans"/>
                <a:cs typeface="IBM Plex Sans"/>
                <a:sym typeface="IBM Plex Sans"/>
              </a:rPr>
              <a:t>HiFi</a:t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1047750" y="5642610"/>
            <a:ext cx="51015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Leitura circular de uma única molécula, repetida até gerar consenso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7"/>
          <p:cNvSpPr/>
          <p:nvPr/>
        </p:nvSpPr>
        <p:spPr>
          <a:xfrm>
            <a:off x="6762750" y="5111115"/>
            <a:ext cx="1362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7"/>
          <p:cNvSpPr/>
          <p:nvPr/>
        </p:nvSpPr>
        <p:spPr>
          <a:xfrm>
            <a:off x="8357354" y="5111115"/>
            <a:ext cx="15717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7"/>
          <p:cNvSpPr/>
          <p:nvPr/>
        </p:nvSpPr>
        <p:spPr>
          <a:xfrm>
            <a:off x="10302003" y="5111115"/>
            <a:ext cx="12573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7"/>
          <p:cNvSpPr/>
          <p:nvPr/>
        </p:nvSpPr>
        <p:spPr>
          <a:xfrm>
            <a:off x="11811834" y="5111115"/>
            <a:ext cx="1467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7"/>
          <p:cNvSpPr/>
          <p:nvPr/>
        </p:nvSpPr>
        <p:spPr>
          <a:xfrm>
            <a:off x="13666351" y="5111115"/>
            <a:ext cx="1362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7"/>
          <p:cNvSpPr/>
          <p:nvPr/>
        </p:nvSpPr>
        <p:spPr>
          <a:xfrm>
            <a:off x="15312390" y="5111115"/>
            <a:ext cx="15717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7"/>
          <p:cNvSpPr/>
          <p:nvPr/>
        </p:nvSpPr>
        <p:spPr>
          <a:xfrm>
            <a:off x="6762750" y="5358765"/>
            <a:ext cx="1467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7"/>
          <p:cNvSpPr/>
          <p:nvPr/>
        </p:nvSpPr>
        <p:spPr>
          <a:xfrm>
            <a:off x="8412956" y="5358765"/>
            <a:ext cx="12573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7"/>
          <p:cNvSpPr/>
          <p:nvPr/>
        </p:nvSpPr>
        <p:spPr>
          <a:xfrm>
            <a:off x="10035898" y="5358765"/>
            <a:ext cx="15717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7"/>
          <p:cNvSpPr/>
          <p:nvPr/>
        </p:nvSpPr>
        <p:spPr>
          <a:xfrm>
            <a:off x="11994118" y="5358765"/>
            <a:ext cx="1362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7"/>
          <p:cNvSpPr/>
          <p:nvPr/>
        </p:nvSpPr>
        <p:spPr>
          <a:xfrm>
            <a:off x="13581459" y="5358765"/>
            <a:ext cx="1467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7"/>
          <p:cNvSpPr/>
          <p:nvPr/>
        </p:nvSpPr>
        <p:spPr>
          <a:xfrm>
            <a:off x="15404545" y="5358765"/>
            <a:ext cx="12573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7"/>
          <p:cNvSpPr/>
          <p:nvPr/>
        </p:nvSpPr>
        <p:spPr>
          <a:xfrm>
            <a:off x="6762750" y="5606415"/>
            <a:ext cx="12573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7"/>
          <p:cNvSpPr/>
          <p:nvPr/>
        </p:nvSpPr>
        <p:spPr>
          <a:xfrm>
            <a:off x="8291393" y="5606415"/>
            <a:ext cx="1467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7"/>
          <p:cNvSpPr/>
          <p:nvPr/>
        </p:nvSpPr>
        <p:spPr>
          <a:xfrm>
            <a:off x="9915406" y="5606415"/>
            <a:ext cx="1362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7"/>
          <p:cNvSpPr/>
          <p:nvPr/>
        </p:nvSpPr>
        <p:spPr>
          <a:xfrm>
            <a:off x="11439882" y="5606415"/>
            <a:ext cx="15717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7"/>
          <p:cNvSpPr/>
          <p:nvPr/>
        </p:nvSpPr>
        <p:spPr>
          <a:xfrm>
            <a:off x="13178076" y="5606415"/>
            <a:ext cx="12573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7"/>
          <p:cNvSpPr/>
          <p:nvPr/>
        </p:nvSpPr>
        <p:spPr>
          <a:xfrm>
            <a:off x="14738152" y="5606415"/>
            <a:ext cx="1467000" cy="133500"/>
          </a:xfrm>
          <a:prstGeom prst="roundRect">
            <a:avLst>
              <a:gd fmla="val 50000" name="adj"/>
            </a:avLst>
          </a:prstGeom>
          <a:solidFill>
            <a:srgbClr val="B84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7"/>
          <p:cNvSpPr/>
          <p:nvPr/>
        </p:nvSpPr>
        <p:spPr>
          <a:xfrm>
            <a:off x="1047750" y="879729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7"/>
          <p:cNvSpPr/>
          <p:nvPr/>
        </p:nvSpPr>
        <p:spPr>
          <a:xfrm>
            <a:off x="1047750" y="7139940"/>
            <a:ext cx="5448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339FEE"/>
              </a:buClr>
              <a:buSzPts val="3300"/>
              <a:buFont typeface="IBM Plex Sans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1047750" y="7696200"/>
            <a:ext cx="51015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17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Corrente elétrica muda conforme o DNA atravessa um poro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6762750" y="7164705"/>
            <a:ext cx="39816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7"/>
          <p:cNvSpPr/>
          <p:nvPr/>
        </p:nvSpPr>
        <p:spPr>
          <a:xfrm>
            <a:off x="11163300" y="7164705"/>
            <a:ext cx="23052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7"/>
          <p:cNvSpPr/>
          <p:nvPr/>
        </p:nvSpPr>
        <p:spPr>
          <a:xfrm>
            <a:off x="13782675" y="7164705"/>
            <a:ext cx="34575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7"/>
          <p:cNvSpPr/>
          <p:nvPr/>
        </p:nvSpPr>
        <p:spPr>
          <a:xfrm>
            <a:off x="6762750" y="7412355"/>
            <a:ext cx="60771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7"/>
          <p:cNvSpPr/>
          <p:nvPr/>
        </p:nvSpPr>
        <p:spPr>
          <a:xfrm>
            <a:off x="13258800" y="7412355"/>
            <a:ext cx="27243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7"/>
          <p:cNvSpPr/>
          <p:nvPr/>
        </p:nvSpPr>
        <p:spPr>
          <a:xfrm>
            <a:off x="6762750" y="7660005"/>
            <a:ext cx="25146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7"/>
          <p:cNvSpPr/>
          <p:nvPr/>
        </p:nvSpPr>
        <p:spPr>
          <a:xfrm>
            <a:off x="9696450" y="7660005"/>
            <a:ext cx="7334400" cy="133500"/>
          </a:xfrm>
          <a:prstGeom prst="roundRect">
            <a:avLst>
              <a:gd fmla="val 50000" name="adj"/>
            </a:avLst>
          </a:prstGeom>
          <a:solidFill>
            <a:srgbClr val="0271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1" name="Google Shape;7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5091905"/>
            <a:ext cx="1760100" cy="38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41" y="7101991"/>
            <a:ext cx="2780921" cy="49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5700" y="2949267"/>
            <a:ext cx="2305200" cy="539409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7"/>
          <p:cNvSpPr txBox="1"/>
          <p:nvPr/>
        </p:nvSpPr>
        <p:spPr>
          <a:xfrm>
            <a:off x="6762750" y="5987850"/>
            <a:ext cx="1422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tamanho: </a:t>
            </a: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15–25 kb</a:t>
            </a: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curácia:~99,9%    qualidade média: Q30+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7"/>
          <p:cNvSpPr txBox="1"/>
          <p:nvPr/>
        </p:nvSpPr>
        <p:spPr>
          <a:xfrm>
            <a:off x="6762750" y="8041450"/>
            <a:ext cx="1422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tamanho: </a:t>
            </a: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k a &gt;1 Mb</a:t>
            </a:r>
            <a:r>
              <a:rPr lang="en-US" sz="2100">
                <a:solidFill>
                  <a:srgbClr val="151B2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  <a:r>
              <a:rPr lang="en-US" sz="2100">
                <a:solidFill>
                  <a:srgbClr val="474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curácia:~99%    qualidade média: Q20+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2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8"/>
          <p:cNvSpPr/>
          <p:nvPr/>
        </p:nvSpPr>
        <p:spPr>
          <a:xfrm>
            <a:off x="1047750" y="952500"/>
            <a:ext cx="17811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00 · Alinhamento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1047750" y="1402080"/>
            <a:ext cx="178119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5100"/>
              <a:buFont typeface="IBM Plex Serif"/>
              <a:buNone/>
            </a:pP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Alinhar reads </a:t>
            </a:r>
            <a:r>
              <a:rPr b="1" lang="en-US" sz="5100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contra um </a:t>
            </a:r>
            <a:r>
              <a:rPr b="1" i="0" lang="en-US" sz="5100" u="none" cap="none" strike="noStrike">
                <a:solidFill>
                  <a:srgbClr val="151B2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genoma</a:t>
            </a:r>
            <a:endParaRPr b="0" i="0" sz="5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1047750" y="263652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8"/>
          <p:cNvSpPr/>
          <p:nvPr/>
        </p:nvSpPr>
        <p:spPr>
          <a:xfrm>
            <a:off x="1047750" y="574548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8"/>
          <p:cNvSpPr/>
          <p:nvPr/>
        </p:nvSpPr>
        <p:spPr>
          <a:xfrm>
            <a:off x="1047750" y="3070860"/>
            <a:ext cx="5867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1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Não </a:t>
            </a:r>
            <a:r>
              <a:rPr b="1" lang="en-US" sz="33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r>
              <a:rPr b="1" i="0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splice-aware</a:t>
            </a:r>
            <a:r>
              <a:rPr b="1" lang="en-US" sz="3300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”</a:t>
            </a:r>
            <a:endParaRPr b="0" i="0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1047750" y="3665220"/>
            <a:ext cx="5867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BWA · Bowtie2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1047750" y="4206240"/>
            <a:ext cx="54939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lang="en-US" sz="21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linhamento contínuo.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7143750" y="3655695"/>
            <a:ext cx="10096500" cy="381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8"/>
          <p:cNvSpPr/>
          <p:nvPr/>
        </p:nvSpPr>
        <p:spPr>
          <a:xfrm>
            <a:off x="7143750" y="3541395"/>
            <a:ext cx="26250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8"/>
          <p:cNvSpPr/>
          <p:nvPr/>
        </p:nvSpPr>
        <p:spPr>
          <a:xfrm>
            <a:off x="11788140" y="3541395"/>
            <a:ext cx="20193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8"/>
          <p:cNvSpPr/>
          <p:nvPr/>
        </p:nvSpPr>
        <p:spPr>
          <a:xfrm>
            <a:off x="15624810" y="3541395"/>
            <a:ext cx="16155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8"/>
          <p:cNvSpPr/>
          <p:nvPr/>
        </p:nvSpPr>
        <p:spPr>
          <a:xfrm>
            <a:off x="7446645" y="413194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>
            <a:off x="9163050" y="413194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8"/>
          <p:cNvSpPr/>
          <p:nvPr/>
        </p:nvSpPr>
        <p:spPr>
          <a:xfrm>
            <a:off x="9768840" y="4131945"/>
            <a:ext cx="60570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8"/>
          <p:cNvSpPr/>
          <p:nvPr/>
        </p:nvSpPr>
        <p:spPr>
          <a:xfrm>
            <a:off x="11990070" y="413194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8"/>
          <p:cNvSpPr/>
          <p:nvPr/>
        </p:nvSpPr>
        <p:spPr>
          <a:xfrm>
            <a:off x="13403581" y="4131945"/>
            <a:ext cx="4038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8"/>
          <p:cNvSpPr/>
          <p:nvPr/>
        </p:nvSpPr>
        <p:spPr>
          <a:xfrm>
            <a:off x="13807440" y="4131945"/>
            <a:ext cx="60570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8"/>
          <p:cNvSpPr/>
          <p:nvPr/>
        </p:nvSpPr>
        <p:spPr>
          <a:xfrm>
            <a:off x="8153400" y="441769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8"/>
          <p:cNvSpPr/>
          <p:nvPr/>
        </p:nvSpPr>
        <p:spPr>
          <a:xfrm>
            <a:off x="11182350" y="4417695"/>
            <a:ext cx="60570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8"/>
          <p:cNvSpPr/>
          <p:nvPr/>
        </p:nvSpPr>
        <p:spPr>
          <a:xfrm>
            <a:off x="11788140" y="441769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8"/>
          <p:cNvSpPr/>
          <p:nvPr/>
        </p:nvSpPr>
        <p:spPr>
          <a:xfrm>
            <a:off x="15826740" y="441769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8"/>
          <p:cNvSpPr/>
          <p:nvPr/>
        </p:nvSpPr>
        <p:spPr>
          <a:xfrm>
            <a:off x="8557260" y="470344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8"/>
          <p:cNvSpPr/>
          <p:nvPr/>
        </p:nvSpPr>
        <p:spPr>
          <a:xfrm>
            <a:off x="12595860" y="470344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8"/>
          <p:cNvSpPr/>
          <p:nvPr/>
        </p:nvSpPr>
        <p:spPr>
          <a:xfrm>
            <a:off x="15019020" y="4703445"/>
            <a:ext cx="605700" cy="152400"/>
          </a:xfrm>
          <a:prstGeom prst="roundRect">
            <a:avLst>
              <a:gd fmla="val 25000" name="adj"/>
            </a:avLst>
          </a:prstGeom>
          <a:noFill/>
          <a:ln cap="flat" cmpd="sng" w="15225">
            <a:solidFill>
              <a:srgbClr val="BF52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8"/>
          <p:cNvSpPr/>
          <p:nvPr/>
        </p:nvSpPr>
        <p:spPr>
          <a:xfrm>
            <a:off x="15624810" y="470344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8"/>
          <p:cNvSpPr/>
          <p:nvPr/>
        </p:nvSpPr>
        <p:spPr>
          <a:xfrm>
            <a:off x="1047750" y="8854440"/>
            <a:ext cx="16192500" cy="153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8"/>
          <p:cNvSpPr/>
          <p:nvPr/>
        </p:nvSpPr>
        <p:spPr>
          <a:xfrm>
            <a:off x="1047750" y="6179820"/>
            <a:ext cx="58674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211"/>
              </a:lnSpc>
              <a:spcBef>
                <a:spcPts val="0"/>
              </a:spcBef>
              <a:spcAft>
                <a:spcPts val="0"/>
              </a:spcAft>
              <a:buClr>
                <a:srgbClr val="151B21"/>
              </a:buClr>
              <a:buSzPts val="3300"/>
              <a:buFont typeface="IBM Plex Sans"/>
              <a:buNone/>
            </a:pPr>
            <a:r>
              <a:rPr b="1" i="1" lang="en-US" sz="3300" u="none" cap="none" strike="noStrike">
                <a:solidFill>
                  <a:srgbClr val="151B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Splice-aware</a:t>
            </a:r>
            <a:endParaRPr b="0" i="1" sz="3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8"/>
          <p:cNvSpPr/>
          <p:nvPr/>
        </p:nvSpPr>
        <p:spPr>
          <a:xfrm>
            <a:off x="1047750" y="6774180"/>
            <a:ext cx="5867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lang="en-US" sz="21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 · HISAT2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t/>
            </a:r>
            <a:endParaRPr sz="2100">
              <a:solidFill>
                <a:srgbClr val="0961B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79" name="Google Shape;779;p28"/>
          <p:cNvSpPr/>
          <p:nvPr/>
        </p:nvSpPr>
        <p:spPr>
          <a:xfrm>
            <a:off x="1047750" y="7315200"/>
            <a:ext cx="54939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22"/>
              </a:lnSpc>
              <a:spcBef>
                <a:spcPts val="0"/>
              </a:spcBef>
              <a:spcAft>
                <a:spcPts val="0"/>
              </a:spcAft>
              <a:buClr>
                <a:srgbClr val="474E55"/>
              </a:buClr>
              <a:buSzPts val="2100"/>
              <a:buFont typeface="IBM Plex Sans"/>
              <a:buNone/>
            </a:pPr>
            <a:r>
              <a:rPr lang="en-US" sz="2100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Considera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íntrons e divide a </a:t>
            </a:r>
            <a:r>
              <a:rPr b="0" i="1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dois </a:t>
            </a:r>
            <a:r>
              <a:rPr b="0" i="0" lang="en-US" sz="2100" u="none" cap="none" strike="noStrike">
                <a:solidFill>
                  <a:srgbClr val="474E55"/>
                </a:solidFill>
                <a:latin typeface="IBM Plex Sans"/>
                <a:ea typeface="IBM Plex Sans"/>
                <a:cs typeface="IBM Plex Sans"/>
                <a:sym typeface="IBM Plex Sans"/>
              </a:rPr>
              <a:t>éxons. 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8"/>
          <p:cNvSpPr/>
          <p:nvPr/>
        </p:nvSpPr>
        <p:spPr>
          <a:xfrm>
            <a:off x="7143750" y="6764655"/>
            <a:ext cx="10096500" cy="38100"/>
          </a:xfrm>
          <a:prstGeom prst="rect">
            <a:avLst/>
          </a:prstGeom>
          <a:solidFill>
            <a:srgbClr val="D4D1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8"/>
          <p:cNvSpPr/>
          <p:nvPr/>
        </p:nvSpPr>
        <p:spPr>
          <a:xfrm>
            <a:off x="7143750" y="6650355"/>
            <a:ext cx="26250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8"/>
          <p:cNvSpPr/>
          <p:nvPr/>
        </p:nvSpPr>
        <p:spPr>
          <a:xfrm>
            <a:off x="11788140" y="6650355"/>
            <a:ext cx="20193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8"/>
          <p:cNvSpPr/>
          <p:nvPr/>
        </p:nvSpPr>
        <p:spPr>
          <a:xfrm>
            <a:off x="15624810" y="6650355"/>
            <a:ext cx="1615500" cy="266700"/>
          </a:xfrm>
          <a:prstGeom prst="roundRect">
            <a:avLst>
              <a:gd fmla="val 21429" name="adj"/>
            </a:avLst>
          </a:prstGeom>
          <a:solidFill>
            <a:srgbClr val="3A7B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8"/>
          <p:cNvSpPr/>
          <p:nvPr/>
        </p:nvSpPr>
        <p:spPr>
          <a:xfrm>
            <a:off x="7446645" y="724090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8"/>
          <p:cNvSpPr/>
          <p:nvPr/>
        </p:nvSpPr>
        <p:spPr>
          <a:xfrm>
            <a:off x="9163050" y="724090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8"/>
          <p:cNvSpPr/>
          <p:nvPr/>
        </p:nvSpPr>
        <p:spPr>
          <a:xfrm>
            <a:off x="9768840" y="7307580"/>
            <a:ext cx="2019300" cy="192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8"/>
          <p:cNvSpPr/>
          <p:nvPr/>
        </p:nvSpPr>
        <p:spPr>
          <a:xfrm>
            <a:off x="11788140" y="724090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8"/>
          <p:cNvSpPr/>
          <p:nvPr/>
        </p:nvSpPr>
        <p:spPr>
          <a:xfrm>
            <a:off x="12595860" y="724090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8"/>
          <p:cNvSpPr/>
          <p:nvPr/>
        </p:nvSpPr>
        <p:spPr>
          <a:xfrm>
            <a:off x="8153400" y="7526655"/>
            <a:ext cx="1211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8"/>
          <p:cNvSpPr/>
          <p:nvPr/>
        </p:nvSpPr>
        <p:spPr>
          <a:xfrm>
            <a:off x="13201650" y="752665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8"/>
          <p:cNvSpPr/>
          <p:nvPr/>
        </p:nvSpPr>
        <p:spPr>
          <a:xfrm>
            <a:off x="13807440" y="7593330"/>
            <a:ext cx="1817400" cy="192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8"/>
          <p:cNvSpPr/>
          <p:nvPr/>
        </p:nvSpPr>
        <p:spPr>
          <a:xfrm>
            <a:off x="15624810" y="752665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8"/>
          <p:cNvSpPr/>
          <p:nvPr/>
        </p:nvSpPr>
        <p:spPr>
          <a:xfrm>
            <a:off x="9364980" y="7812405"/>
            <a:ext cx="4038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8"/>
          <p:cNvSpPr/>
          <p:nvPr/>
        </p:nvSpPr>
        <p:spPr>
          <a:xfrm>
            <a:off x="9768840" y="7879080"/>
            <a:ext cx="2019300" cy="192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8"/>
          <p:cNvSpPr/>
          <p:nvPr/>
        </p:nvSpPr>
        <p:spPr>
          <a:xfrm>
            <a:off x="11788140" y="7812405"/>
            <a:ext cx="8076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8"/>
          <p:cNvSpPr/>
          <p:nvPr/>
        </p:nvSpPr>
        <p:spPr>
          <a:xfrm>
            <a:off x="13403581" y="7812405"/>
            <a:ext cx="4038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8"/>
          <p:cNvSpPr/>
          <p:nvPr/>
        </p:nvSpPr>
        <p:spPr>
          <a:xfrm>
            <a:off x="13807440" y="7879080"/>
            <a:ext cx="1817400" cy="19200"/>
          </a:xfrm>
          <a:prstGeom prst="rect">
            <a:avLst/>
          </a:prstGeom>
          <a:solidFill>
            <a:srgbClr val="AD6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8"/>
          <p:cNvSpPr/>
          <p:nvPr/>
        </p:nvSpPr>
        <p:spPr>
          <a:xfrm>
            <a:off x="15624810" y="7812405"/>
            <a:ext cx="8076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8"/>
          <p:cNvSpPr/>
          <p:nvPr/>
        </p:nvSpPr>
        <p:spPr>
          <a:xfrm>
            <a:off x="16634540" y="4122445"/>
            <a:ext cx="605700" cy="152400"/>
          </a:xfrm>
          <a:prstGeom prst="roundRect">
            <a:avLst>
              <a:gd fmla="val 25000" name="adj"/>
            </a:avLst>
          </a:prstGeom>
          <a:solidFill>
            <a:srgbClr val="F68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0" name="Google Shape;800;p28"/>
          <p:cNvCxnSpPr/>
          <p:nvPr/>
        </p:nvCxnSpPr>
        <p:spPr>
          <a:xfrm flipH="1">
            <a:off x="9768650" y="3896270"/>
            <a:ext cx="1200" cy="1247100"/>
          </a:xfrm>
          <a:prstGeom prst="straightConnector1">
            <a:avLst/>
          </a:prstGeom>
          <a:noFill/>
          <a:ln cap="flat" cmpd="sng" w="19050">
            <a:solidFill>
              <a:srgbClr val="AD68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28"/>
          <p:cNvCxnSpPr/>
          <p:nvPr/>
        </p:nvCxnSpPr>
        <p:spPr>
          <a:xfrm flipH="1">
            <a:off x="11788050" y="3870358"/>
            <a:ext cx="1200" cy="1247100"/>
          </a:xfrm>
          <a:prstGeom prst="straightConnector1">
            <a:avLst/>
          </a:prstGeom>
          <a:noFill/>
          <a:ln cap="flat" cmpd="sng" w="19050">
            <a:solidFill>
              <a:srgbClr val="AD68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28"/>
          <p:cNvCxnSpPr/>
          <p:nvPr/>
        </p:nvCxnSpPr>
        <p:spPr>
          <a:xfrm flipH="1">
            <a:off x="13807400" y="3886558"/>
            <a:ext cx="1200" cy="1247100"/>
          </a:xfrm>
          <a:prstGeom prst="straightConnector1">
            <a:avLst/>
          </a:prstGeom>
          <a:noFill/>
          <a:ln cap="flat" cmpd="sng" w="19050">
            <a:solidFill>
              <a:srgbClr val="AD6800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28"/>
          <p:cNvCxnSpPr/>
          <p:nvPr/>
        </p:nvCxnSpPr>
        <p:spPr>
          <a:xfrm flipH="1">
            <a:off x="15624850" y="3870345"/>
            <a:ext cx="1200" cy="1247100"/>
          </a:xfrm>
          <a:prstGeom prst="straightConnector1">
            <a:avLst/>
          </a:prstGeom>
          <a:noFill/>
          <a:ln cap="flat" cmpd="sng" w="19050">
            <a:solidFill>
              <a:srgbClr val="AD680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804" name="Google Shape;804;p28"/>
          <p:cNvSpPr/>
          <p:nvPr/>
        </p:nvSpPr>
        <p:spPr>
          <a:xfrm>
            <a:off x="1047750" y="9288800"/>
            <a:ext cx="130905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rPr b="1" lang="en-US" sz="27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Minimap2 - Para </a:t>
            </a:r>
            <a:r>
              <a:rPr b="1" i="1" lang="en-US" sz="27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reads </a:t>
            </a:r>
            <a:r>
              <a:rPr b="1" lang="en-US" sz="2700">
                <a:solidFill>
                  <a:srgbClr val="0961BB"/>
                </a:solidFill>
                <a:latin typeface="IBM Plex Mono"/>
                <a:ea typeface="IBM Plex Mono"/>
                <a:cs typeface="IBM Plex Mono"/>
                <a:sym typeface="IBM Plex Mono"/>
              </a:rPr>
              <a:t>longas - Genoma vs Genoma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61BB"/>
              </a:buClr>
              <a:buSzPts val="2100"/>
              <a:buFont typeface="IBM Plex Mono"/>
              <a:buNone/>
            </a:pPr>
            <a:r>
              <a:t/>
            </a:r>
            <a:endParaRPr sz="2100">
              <a:solidFill>
                <a:srgbClr val="0961B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9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08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9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Alinhamento apenas viral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9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 frase curta sobre o que vem a seguir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0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09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0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Analise de cobertura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0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 frase curta sobre o que vem a seguir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1"/>
          <p:cNvSpPr/>
          <p:nvPr/>
        </p:nvSpPr>
        <p:spPr>
          <a:xfrm>
            <a:off x="1047750" y="952500"/>
            <a:ext cx="178119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1"/>
          <p:cNvSpPr/>
          <p:nvPr/>
        </p:nvSpPr>
        <p:spPr>
          <a:xfrm>
            <a:off x="1047750" y="5268159"/>
            <a:ext cx="17811900" cy="2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5914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0"/>
              <a:buFont typeface="IBM Plex Serif"/>
              <a:buNone/>
            </a:pPr>
            <a:r>
              <a:rPr b="1" lang="en-US" sz="210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10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1"/>
          <p:cNvSpPr/>
          <p:nvPr/>
        </p:nvSpPr>
        <p:spPr>
          <a:xfrm>
            <a:off x="1047750" y="7801809"/>
            <a:ext cx="146685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1163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7200"/>
              <a:buFont typeface="IBM Plex Serif"/>
              <a:buNone/>
            </a:pPr>
            <a:r>
              <a:rPr b="1" lang="en-US" sz="7200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Visualização no IGV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1"/>
          <p:cNvSpPr/>
          <p:nvPr/>
        </p:nvSpPr>
        <p:spPr>
          <a:xfrm>
            <a:off x="1047750" y="9001125"/>
            <a:ext cx="1257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Uma frase curta sobre o que vem a seguir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61BB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2"/>
          <p:cNvSpPr/>
          <p:nvPr/>
        </p:nvSpPr>
        <p:spPr>
          <a:xfrm>
            <a:off x="1047750" y="952500"/>
            <a:ext cx="9593723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9565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9600"/>
              <a:buFont typeface="IBM Plex Serif"/>
              <a:buNone/>
            </a:pPr>
            <a:r>
              <a:rPr b="1" i="0" lang="en-US" sz="9600" u="none" cap="none" strike="noStrike">
                <a:solidFill>
                  <a:srgbClr val="FAF8F5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Obrigado(a)!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1047750" y="2552700"/>
            <a:ext cx="959372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31"/>
              </a:lnSpc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3300"/>
              <a:buFont typeface="IBM Plex Sans"/>
              <a:buNone/>
            </a:pPr>
            <a:r>
              <a:rPr b="0" i="0" lang="en-US" sz="3300" u="none" cap="none" strike="noStrike">
                <a:solidFill>
                  <a:srgbClr val="FAF8F5"/>
                </a:solidFill>
                <a:latin typeface="IBM Plex Sans"/>
                <a:ea typeface="IBM Plex Sans"/>
                <a:cs typeface="IBM Plex Sans"/>
                <a:sym typeface="IBM Plex Sans"/>
              </a:rPr>
              <a:t>Dúvidas e perguntas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1047750" y="8728710"/>
            <a:ext cx="959372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rPr lang="en-US" sz="2100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leandro_goncalves</a:t>
            </a:r>
            <a:r>
              <a:rPr b="0" i="0" lang="en-US" sz="2100" u="none" cap="none" strike="noStrike">
                <a:solidFill>
                  <a:srgbClr val="FAF8F5"/>
                </a:solidFill>
                <a:latin typeface="IBM Plex Mono"/>
                <a:ea typeface="IBM Plex Mono"/>
                <a:cs typeface="IBM Plex Mono"/>
                <a:sym typeface="IBM Plex Mono"/>
              </a:rPr>
              <a:t>@usp.br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1047750" y="9174480"/>
            <a:ext cx="959372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8F5"/>
              </a:buClr>
              <a:buSzPts val="2100"/>
              <a:buFont typeface="IBM Plex Mono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1" name="Google Shape;8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0" y="952500"/>
            <a:ext cx="4381500" cy="33511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2" name="Google Shape;8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11840" y="8724900"/>
            <a:ext cx="222242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3" name="Google Shape;84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67660" y="8782050"/>
            <a:ext cx="167259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