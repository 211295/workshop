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10287000" cx="18288000"/>
  <p:notesSz cx="10287000" cy="18288000"/>
  <p:embeddedFontLst>
    <p:embeddedFont>
      <p:font typeface="IBM Plex Sans"/>
      <p:regular r:id="rId34"/>
      <p:bold r:id="rId35"/>
      <p:italic r:id="rId36"/>
      <p:boldItalic r:id="rId37"/>
    </p:embeddedFont>
    <p:embeddedFont>
      <p:font typeface="IBM Plex Serif"/>
      <p:regular r:id="rId38"/>
      <p:bold r:id="rId39"/>
      <p:italic r:id="rId40"/>
      <p:boldItalic r:id="rId41"/>
    </p:embeddedFont>
    <p:embeddedFont>
      <p:font typeface="IBM Plex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erif-italic.fntdata"/><Relationship Id="rId20" Type="http://schemas.openxmlformats.org/officeDocument/2006/relationships/slide" Target="slides/slide16.xml"/><Relationship Id="rId42" Type="http://schemas.openxmlformats.org/officeDocument/2006/relationships/font" Target="fonts/IBMPlexMono-regular.fntdata"/><Relationship Id="rId41" Type="http://schemas.openxmlformats.org/officeDocument/2006/relationships/font" Target="fonts/IBMPlexSerif-boldItalic.fntdata"/><Relationship Id="rId22" Type="http://schemas.openxmlformats.org/officeDocument/2006/relationships/slide" Target="slides/slide18.xml"/><Relationship Id="rId44" Type="http://schemas.openxmlformats.org/officeDocument/2006/relationships/font" Target="fonts/IBMPlexMono-italic.fntdata"/><Relationship Id="rId21" Type="http://schemas.openxmlformats.org/officeDocument/2006/relationships/slide" Target="slides/slide17.xml"/><Relationship Id="rId43" Type="http://schemas.openxmlformats.org/officeDocument/2006/relationships/font" Target="fonts/IBMPlexMono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IBMPlex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IBMPlexSans-bold.fntdata"/><Relationship Id="rId12" Type="http://schemas.openxmlformats.org/officeDocument/2006/relationships/slide" Target="slides/slide8.xml"/><Relationship Id="rId34" Type="http://schemas.openxmlformats.org/officeDocument/2006/relationships/font" Target="fonts/IBMPlexSans-regular.fntdata"/><Relationship Id="rId15" Type="http://schemas.openxmlformats.org/officeDocument/2006/relationships/slide" Target="slides/slide11.xml"/><Relationship Id="rId37" Type="http://schemas.openxmlformats.org/officeDocument/2006/relationships/font" Target="fonts/IBMPlexSans-boldItalic.fntdata"/><Relationship Id="rId14" Type="http://schemas.openxmlformats.org/officeDocument/2006/relationships/slide" Target="slides/slide10.xml"/><Relationship Id="rId36" Type="http://schemas.openxmlformats.org/officeDocument/2006/relationships/font" Target="fonts/IBMPlexSans-italic.fntdata"/><Relationship Id="rId17" Type="http://schemas.openxmlformats.org/officeDocument/2006/relationships/slide" Target="slides/slide13.xml"/><Relationship Id="rId39" Type="http://schemas.openxmlformats.org/officeDocument/2006/relationships/font" Target="fonts/IBMPlexSerif-bold.fntdata"/><Relationship Id="rId16" Type="http://schemas.openxmlformats.org/officeDocument/2006/relationships/slide" Target="slides/slide12.xml"/><Relationship Id="rId38" Type="http://schemas.openxmlformats.org/officeDocument/2006/relationships/font" Target="fonts/IBMPlexSerif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Apresente-se e o objetivo da aula.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7" name="Google Shape;102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cell.com/pb-assets/products/coronavirus/CELL_CELL-D-20-00985.pd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7750" y="952500"/>
            <a:ext cx="8829675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91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9600"/>
              <a:buFont typeface="Georgia"/>
              <a:buNone/>
            </a:pPr>
            <a:r>
              <a:rPr b="1" i="0" lang="en-US" spc="-144" sz="9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Toolbox de Bioinformática</a:t>
            </a:r>
            <a:endParaRPr b="0" i="0" sz="9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47750" y="3733800"/>
            <a:ext cx="942975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58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Segundo dia</a:t>
            </a:r>
            <a:endParaRPr b="0" i="0" sz="3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47750" y="8724900"/>
            <a:ext cx="942975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Leandro de B. Gonçalves e Felipe S. Salles</a:t>
            </a:r>
            <a:endParaRPr b="0" i="0" sz="2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47750" y="9227820"/>
            <a:ext cx="9429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Semana Temática da Biologia · IB-USP · outubro 2026</a:t>
            </a:r>
            <a:endParaRPr b="0" i="0" sz="1800" u="none" cap="none" strike="noStrike">
              <a:solidFill>
                <a:srgbClr val="F9F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0" y="952500"/>
            <a:ext cx="5334000" cy="407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23693" y="8225150"/>
            <a:ext cx="3610550" cy="129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53975" y="8498150"/>
            <a:ext cx="2597300" cy="106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Hoje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Agenda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047750" y="263497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047750" y="383893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047750" y="3065502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190750" y="2974062"/>
            <a:ext cx="1445895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Pequena recapitulação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5144750" y="3126462"/>
            <a:ext cx="20955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19:00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47750" y="504289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47750" y="4269462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190750" y="4178022"/>
            <a:ext cx="1445895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Introdução a conceitos fundamentais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5144750" y="4330422"/>
            <a:ext cx="20955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19:20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47750" y="6246853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047750" y="5473422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190750" y="5381983"/>
            <a:ext cx="1445895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Prática guiada no terminal · Transcriptômica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144750" y="5534383"/>
            <a:ext cx="20955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20:45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47750" y="745081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047750" y="6677383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190750" y="6585942"/>
            <a:ext cx="1445895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Prática guiada no terminal · Genômica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144750" y="6738342"/>
            <a:ext cx="20955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21:00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Ontem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Aula de ontem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047750" y="4592122"/>
            <a:ext cx="3762375" cy="5334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047750" y="4950262"/>
            <a:ext cx="413861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047750" y="5605582"/>
            <a:ext cx="3875246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000"/>
              <a:buFont typeface="IBM Plex Sans"/>
              <a:buNone/>
            </a:pPr>
            <a:r>
              <a:rPr b="0" i="0" lang="en-US" sz="30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Baixamos arquivo </a:t>
            </a:r>
            <a:r>
              <a:rPr b="0" i="0" lang="en-US" sz="30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 </a:t>
            </a:r>
            <a:r>
              <a:rPr b="0" i="0" lang="en-US" sz="30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um DB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191125" y="4592122"/>
            <a:ext cx="3762375" cy="5334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191125" y="4950262"/>
            <a:ext cx="413861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191125" y="5605582"/>
            <a:ext cx="41386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000"/>
              <a:buFont typeface="IBM Plex Sans"/>
              <a:buNone/>
            </a:pPr>
            <a:r>
              <a:rPr b="0" i="0" lang="en-US" sz="30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Fizemos </a:t>
            </a:r>
            <a:r>
              <a:rPr b="0" i="0" lang="en-US" sz="30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BLAST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9334500" y="4592122"/>
            <a:ext cx="3762375" cy="5334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9334500" y="4950262"/>
            <a:ext cx="413861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334500" y="5605582"/>
            <a:ext cx="3875246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000"/>
              <a:buFont typeface="IBM Plex Sans"/>
              <a:buNone/>
            </a:pPr>
            <a:r>
              <a:rPr b="0" i="0" lang="en-US" sz="30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Alinhamos as sequências com </a:t>
            </a:r>
            <a:r>
              <a:rPr b="0" i="0" lang="en-US" sz="30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MAFFT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3477875" y="4950262"/>
            <a:ext cx="413861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3477875" y="5605582"/>
            <a:ext cx="3875246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000"/>
              <a:buFont typeface="IBM Plex Sans"/>
              <a:buNone/>
            </a:pPr>
            <a:r>
              <a:rPr b="0" i="0" lang="en-US" sz="30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Montaríamos uma filogenia com o </a:t>
            </a:r>
            <a:r>
              <a:rPr b="0" i="0" lang="en-US" sz="30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IQtree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5"/>
          <p:cNvCxnSpPr/>
          <p:nvPr/>
        </p:nvCxnSpPr>
        <p:spPr>
          <a:xfrm>
            <a:off x="13456575" y="4614125"/>
            <a:ext cx="4043100" cy="6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Ontem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047750" y="2856786"/>
            <a:ext cx="861250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erif"/>
              <a:buNone/>
            </a:pPr>
            <a:r>
              <a:rPr b="1" i="0" lang="en-US" spc="-49" sz="33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Hemoglobin 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047750" y="3649266"/>
            <a:ext cx="7829550" cy="354461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050" y="3763566"/>
            <a:ext cx="7600950" cy="331601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9410700" y="2856786"/>
            <a:ext cx="861250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erif"/>
              <a:buNone/>
            </a:pPr>
            <a:r>
              <a:rPr b="1" i="0" lang="en-US" spc="-49" sz="33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Hemoglobin B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410700" y="3649266"/>
            <a:ext cx="7829550" cy="3339227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0" y="3763566"/>
            <a:ext cx="7600950" cy="3110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01281" y="8820150"/>
            <a:ext cx="398657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Alinhamento em Bioinformática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047750" y="2558772"/>
            <a:ext cx="8402955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58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erif"/>
              <a:buNone/>
            </a:pPr>
            <a:r>
              <a:rPr b="1" i="0" lang="en-US" spc="-49" sz="33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MSA (alinhamento múltiplo)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047750" y="3286482"/>
            <a:ext cx="7639050" cy="200025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7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1200150" y="3696891"/>
            <a:ext cx="7334250" cy="117931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1047750" y="5553433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384935" y="5553433"/>
            <a:ext cx="6924711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Conjunto de sequências (genes, proteínas, CDS, etc.)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047750" y="6065877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384935" y="6065877"/>
            <a:ext cx="2655391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Busca de homologia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047750" y="6578322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384935" y="6578322"/>
            <a:ext cx="4182356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Métodos estimativos (distância)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047750" y="7090767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384935" y="7090767"/>
            <a:ext cx="7520921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Variações</a:t>
            </a:r>
            <a:r>
              <a:rPr lang="en-US" sz="210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são entendidas como SNPs</a:t>
            </a:r>
            <a:r>
              <a:rPr lang="en-US" sz="210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produtos da evolução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903970" y="2615922"/>
            <a:ext cx="556260" cy="69471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9601200" y="2558772"/>
            <a:ext cx="8402955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58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erif"/>
              <a:buNone/>
            </a:pPr>
            <a:r>
              <a:rPr b="1" i="0" lang="en-US" spc="-49" sz="33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Alinhamento de leituras curtas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9601200" y="3286482"/>
            <a:ext cx="7639050" cy="200025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3600" y="3453170"/>
            <a:ext cx="733425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/>
          <p:nvPr/>
        </p:nvSpPr>
        <p:spPr>
          <a:xfrm>
            <a:off x="9601200" y="5553433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938385" y="5553433"/>
            <a:ext cx="7421475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Milhões de reads contra uma referência ou “Scaffolding”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9601200" y="6065877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9938361" y="6065875"/>
            <a:ext cx="7047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Busca por “endereço”: origem, espécie, filo</a:t>
            </a:r>
            <a:r>
              <a:rPr lang="en-US" sz="210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…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9601200" y="6578322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9938385" y="6578322"/>
            <a:ext cx="4407098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Métodos heurísticos (descoberta)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601200" y="7090767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9938385" y="7090767"/>
            <a:ext cx="3355943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Profundidade e cobertura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9601200" y="7603212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9938385" y="7603212"/>
            <a:ext cx="6966752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Variantes são consideradas </a:t>
            </a:r>
            <a:r>
              <a:rPr lang="en-US" sz="210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possíveis erros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3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Georgia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Georgia"/>
                <a:ea typeface="Georgia"/>
                <a:cs typeface="Georgia"/>
                <a:sym typeface="Georgia"/>
              </a:rPr>
              <a:t>Com os dados de RNA-seq podemos fazer...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047750" y="3402449"/>
            <a:ext cx="3086100" cy="200025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1310640" y="3867509"/>
            <a:ext cx="2637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34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Expressão diferencial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324350" y="3402449"/>
            <a:ext cx="3086100" cy="200025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4587240" y="3682884"/>
            <a:ext cx="2637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34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Resposta a estímulos/condições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7600950" y="3402449"/>
            <a:ext cx="3086100" cy="200025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7863840" y="3867509"/>
            <a:ext cx="2637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34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Redes de coexpressão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0877550" y="3402449"/>
            <a:ext cx="3086100" cy="200025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11140440" y="3867509"/>
            <a:ext cx="2637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34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Delimitação de tipos celulares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4154150" y="3402449"/>
            <a:ext cx="3086100" cy="200025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14340340" y="3997009"/>
            <a:ext cx="281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32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Bioprospecção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047750" y="5593199"/>
            <a:ext cx="3086100" cy="2051685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1317440" y="5943194"/>
            <a:ext cx="281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34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Chamada de SNPs e variantes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324350" y="5593199"/>
            <a:ext cx="3086100" cy="2051685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587240" y="6443069"/>
            <a:ext cx="281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34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Splicing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7600950" y="5593199"/>
            <a:ext cx="3086100" cy="2051685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7822090" y="5776394"/>
            <a:ext cx="2637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34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Montar</a:t>
            </a:r>
            <a:endParaRPr b="0" i="0" sz="3400" u="none" cap="none" strike="noStrike">
              <a:solidFill>
                <a:srgbClr val="151B2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34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/anotar genomas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877550" y="5593199"/>
            <a:ext cx="3086100" cy="2051685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11102090" y="5776407"/>
            <a:ext cx="2637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8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Redes de regulação (miRNAs, lncRNAs, etc.)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4154150" y="5593199"/>
            <a:ext cx="3086100" cy="2051685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4340340" y="5776394"/>
            <a:ext cx="2637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0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6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Evolução de níveis de expressão por famílias gênicas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047750" y="8869680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1047750" y="2572870"/>
            <a:ext cx="2577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7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Depende de: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695641" y="2565250"/>
            <a:ext cx="13544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tipo de biblioteca, número de réplicas, profundidade, tamanho das leituras, ...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047750" y="1402080"/>
            <a:ext cx="157162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Sequenciamento Illumina®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047750" y="2406372"/>
            <a:ext cx="14716125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O Illumina ainda é o padrão para RNA-seq. Plataformas como o NovaSeq X produzem bilhões de reads curtos (2×150 pb) por corrida, com baixo custo por amostra.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047750" y="4164330"/>
            <a:ext cx="3590925" cy="288798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1405890" y="4263390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1672590" y="4263390"/>
            <a:ext cx="2341245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013835" y="4263390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1405890" y="4682490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1672590" y="4682490"/>
            <a:ext cx="1708785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3381375" y="4682490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1405890" y="5101590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1672590" y="5101590"/>
            <a:ext cx="2053709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3726299" y="5101590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1405890" y="5520690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672590" y="5520690"/>
            <a:ext cx="1363861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3036451" y="5520690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1405890" y="5939790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1672590" y="5939790"/>
            <a:ext cx="1881187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3553778" y="5939790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1405890" y="6358890"/>
            <a:ext cx="2960885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adaptador · inserto · adaptador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047750" y="7319010"/>
            <a:ext cx="395001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047750" y="7745730"/>
            <a:ext cx="3698653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Construção de Biblioteca de cDNA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047750" y="8599170"/>
            <a:ext cx="3698653" cy="963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RNA convertido em cDNA, fragmentado e ligado a adaptadores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600575" y="4164330"/>
            <a:ext cx="6858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474684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248275" y="4164330"/>
            <a:ext cx="3590925" cy="28575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689521" y="4389120"/>
            <a:ext cx="381000" cy="381000"/>
          </a:xfrm>
          <a:prstGeom prst="ellipse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651421" y="438912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465332" y="4389120"/>
            <a:ext cx="381000" cy="381000"/>
          </a:xfrm>
          <a:prstGeom prst="ellipse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6427232" y="438912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241143" y="4389120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7203043" y="438912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016954" y="4389120"/>
            <a:ext cx="381000" cy="381000"/>
          </a:xfrm>
          <a:prstGeom prst="ellipse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978854" y="438912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485199" y="6099810"/>
            <a:ext cx="3117078" cy="56388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485199" y="6645086"/>
            <a:ext cx="3117078" cy="18605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5485199" y="6099810"/>
            <a:ext cx="3117078" cy="18605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485199" y="6099810"/>
            <a:ext cx="15240" cy="56388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8587037" y="6099810"/>
            <a:ext cx="15240" cy="56388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473065" y="5196840"/>
            <a:ext cx="381000" cy="381000"/>
          </a:xfrm>
          <a:prstGeom prst="ellipse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5434965" y="519684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625465" y="5520690"/>
            <a:ext cx="76200" cy="64770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5625465" y="6168390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758815" y="5196840"/>
            <a:ext cx="381000" cy="381000"/>
          </a:xfrm>
          <a:prstGeom prst="ellipse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720715" y="519684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911215" y="5520690"/>
            <a:ext cx="76200" cy="6477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911215" y="6168390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044565" y="5196840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006465" y="519684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196965" y="5520690"/>
            <a:ext cx="76200" cy="64770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6196965" y="6168390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577965" y="5482590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539865" y="548259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730365" y="5806440"/>
            <a:ext cx="76200" cy="3619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730365" y="6168390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6863715" y="5482590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825615" y="548259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7016115" y="5806440"/>
            <a:ext cx="76200" cy="3619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7016115" y="6168390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7149465" y="5482590"/>
            <a:ext cx="381000" cy="381000"/>
          </a:xfrm>
          <a:prstGeom prst="ellipse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111365" y="548259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7301865" y="5806440"/>
            <a:ext cx="76200" cy="36195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7301865" y="6168390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7682865" y="5196840"/>
            <a:ext cx="381000" cy="381000"/>
          </a:xfrm>
          <a:prstGeom prst="ellipse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7644765" y="519684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835265" y="5520690"/>
            <a:ext cx="76200" cy="6477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7835265" y="6168390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7968615" y="5196840"/>
            <a:ext cx="381000" cy="381000"/>
          </a:xfrm>
          <a:prstGeom prst="ellipse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7930515" y="519684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8121015" y="5520690"/>
            <a:ext cx="76200" cy="64770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8121015" y="6168390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8254365" y="5196840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8216265" y="519684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8406765" y="5520690"/>
            <a:ext cx="76200" cy="64770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8406765" y="6168390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248275" y="7288530"/>
            <a:ext cx="395001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248275" y="7715250"/>
            <a:ext cx="3698653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Sequenciamento na flowcell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248275" y="8568690"/>
            <a:ext cx="3698653" cy="963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Fragmentos formam clusters e são lidos base a base com fluorescência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8801100" y="4164330"/>
            <a:ext cx="6858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474684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9448800" y="4164330"/>
            <a:ext cx="3590925" cy="288798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9806940" y="4577715"/>
            <a:ext cx="316211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14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2A914B"/>
                </a:solidFill>
                <a:latin typeface="IBM Plex Mono"/>
                <a:ea typeface="IBM Plex Mono"/>
                <a:cs typeface="IBM Plex Mono"/>
                <a:sym typeface="IBM Plex Mono"/>
              </a:rPr>
              <a:t>R1 forward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806940" y="5017770"/>
            <a:ext cx="1667232" cy="17145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11474173" y="4951095"/>
            <a:ext cx="205740" cy="30480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9806940" y="5503545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10073640" y="5503545"/>
            <a:ext cx="2341245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2414885" y="5503545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0808614" y="5960745"/>
            <a:ext cx="205740" cy="3048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11014353" y="6027420"/>
            <a:ext cx="1667232" cy="17145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11309985" y="6341745"/>
            <a:ext cx="150876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C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3A7BCB"/>
                </a:solidFill>
                <a:latin typeface="IBM Plex Mono"/>
                <a:ea typeface="IBM Plex Mono"/>
                <a:cs typeface="IBM Plex Mono"/>
                <a:sym typeface="IBM Plex Mono"/>
              </a:rPr>
              <a:t>R2 reverse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9448800" y="7319010"/>
            <a:ext cx="395001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9448800" y="7745730"/>
            <a:ext cx="3698653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Leituras forward e reverse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9448800" y="8599170"/>
            <a:ext cx="3698653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fragmento é lido pelas duas pontas (paired-end)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3001625" y="4164330"/>
            <a:ext cx="6858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474684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3649325" y="4164330"/>
            <a:ext cx="3590925" cy="288798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13950315" y="4411980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@READ_1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3950315" y="4804410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GATTTGGGGTTCAA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3950315" y="5196840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3950315" y="5589270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IIIIHHGG@@?+&amp;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3950315" y="6115050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@READ_2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3950315" y="6507480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CCTAGGACTTAGCA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3649325" y="7319010"/>
            <a:ext cx="395001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3649325" y="7745730"/>
            <a:ext cx="3698653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Leituras brutas em FASTQ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3649325" y="8599170"/>
            <a:ext cx="3698653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Sequência e qualidade de cada base, em arquivos R1 e R2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Cobertura × profundidade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771650" y="3757047"/>
            <a:ext cx="15354300" cy="381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17125950" y="3661797"/>
            <a:ext cx="190500" cy="2286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1276350" y="4099947"/>
            <a:ext cx="38100" cy="24480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181100" y="6547872"/>
            <a:ext cx="228600" cy="1905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1771650" y="4099947"/>
            <a:ext cx="15544800" cy="152400"/>
          </a:xfrm>
          <a:prstGeom prst="roundRect">
            <a:avLst>
              <a:gd fmla="val 50000" name="adj"/>
            </a:avLst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1771650" y="4099947"/>
            <a:ext cx="6965400" cy="1524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10395824" y="4099947"/>
            <a:ext cx="6822600" cy="1524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771650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3469124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4832390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6088380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7408188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10395824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11791712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13310474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4877455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16130349" y="44714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1771650" y="46523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3604379" y="46523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835485" y="46523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6113264" y="46523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7510701" y="46523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0725388" y="46523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12519303" y="46523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13784581" y="46523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5067002" y="46523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771650" y="48333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3674269" y="48333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5067062" y="48333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6386870" y="48333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7649051" y="48333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10894814" y="48333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13355598" y="48333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14984731" y="48333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2220873" y="50143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3937040" y="50143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5169694" y="50143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6402348" y="50143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10955417" y="50143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13557647" y="50143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15732323" y="50143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2587705" y="51953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4081582" y="51953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5306496" y="51953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6553200" y="51953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11067336" y="51953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13636943" y="51953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15763518" y="51953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2945249" y="53762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4193500" y="53762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583198" y="53762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6848475" y="53762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11373565" y="53762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13717786" y="53762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4157663" y="55572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656183" y="55572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6986826" y="55572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13870067" y="55572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4261842" y="57382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5665589" y="57382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7002423" y="57382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13986749" y="57382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4266486" y="59192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5783699" y="59192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7035046" y="59192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14014728" y="59192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4362926" y="61001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5794534" y="61001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7140773" y="61001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14053542" y="610019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847868" y="62811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6246972" y="62811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14257139" y="628117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5920502" y="64621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14308456" y="6462147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6564035" y="66431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14310003" y="6643122"/>
            <a:ext cx="1088100" cy="95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5842159" y="6855143"/>
            <a:ext cx="4876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6800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AD6800"/>
                </a:solidFill>
                <a:latin typeface="IBM Plex Mono"/>
                <a:ea typeface="IBM Plex Mono"/>
                <a:cs typeface="IBM Plex Mono"/>
                <a:sym typeface="IBM Plex Mono"/>
              </a:rPr>
              <a:t>10x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12789132" y="6898568"/>
            <a:ext cx="350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6800"/>
              </a:buClr>
              <a:buSzPts val="1800"/>
              <a:buFont typeface="IBM Plex Mono"/>
              <a:buNone/>
            </a:pPr>
            <a:r>
              <a:rPr b="1" lang="en-US" sz="1800">
                <a:solidFill>
                  <a:srgbClr val="AD6800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r>
              <a:rPr b="1" i="0" lang="en-US" sz="1800" u="none" cap="none" strike="noStrike">
                <a:solidFill>
                  <a:srgbClr val="AD6800"/>
                </a:solidFill>
                <a:latin typeface="IBM Plex Mono"/>
                <a:ea typeface="IBM Plex Mono"/>
                <a:cs typeface="IBM Plex Mono"/>
                <a:sym typeface="IBM Plex Mono"/>
              </a:rPr>
              <a:t>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 rot="-5400000">
            <a:off x="-3366582" y="2539405"/>
            <a:ext cx="8403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6800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AD68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↓ Profundidade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805850" y="7607613"/>
            <a:ext cx="8403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Quantas vezes (número X) uma mesma base foi lida.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805850" y="8178160"/>
            <a:ext cx="222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1104935" y="8178160"/>
            <a:ext cx="3531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Confiabilidade à sequência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805850" y="8671555"/>
            <a:ext cx="222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1104935" y="8671555"/>
            <a:ext cx="29232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Chamada de variantes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1771650" y="3073131"/>
            <a:ext cx="8403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CB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3A7BCB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 Cobertura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018138" y="2176651"/>
            <a:ext cx="78681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Quanto (em porcentagem %) da referência foi montada pelas reads.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601200" y="9108757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4317222" y="3184395"/>
            <a:ext cx="3581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Gera a informação primária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820825" y="4109350"/>
            <a:ext cx="190500" cy="2745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12790825" y="4109350"/>
            <a:ext cx="190500" cy="2745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Prática - Transcriptômica comparativa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1047750" y="2368272"/>
            <a:ext cx="14716125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Vamos avaliar a mudança do perfil de transcrição de uma célula em dois contextos diferentes.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1047750" y="5138857"/>
            <a:ext cx="1781175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Células CALU-3 </a:t>
            </a:r>
            <a:r>
              <a:rPr b="0" i="0" lang="en-US" sz="255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· epitélio pulmonar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1047750" y="5832277"/>
            <a:ext cx="7639050" cy="166116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1047750" y="5832277"/>
            <a:ext cx="7639050" cy="762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1390650" y="6213277"/>
            <a:ext cx="764857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condição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1390650" y="6643807"/>
            <a:ext cx="7648575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06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900"/>
              <a:buFont typeface="IBM Plex Serif"/>
              <a:buNone/>
            </a:pPr>
            <a:r>
              <a:rPr b="1" i="0" lang="en-US" spc="-58" sz="39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Controle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8648700" y="5832277"/>
            <a:ext cx="990600" cy="1699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4200"/>
              <a:buFont typeface="IBM Plex Mono"/>
              <a:buNone/>
            </a:pPr>
            <a:r>
              <a:rPr b="0" i="0" lang="en-US" sz="42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×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9601200" y="5832277"/>
            <a:ext cx="7639050" cy="166116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9601200" y="5832277"/>
            <a:ext cx="7639050" cy="7620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9944100" y="6213277"/>
            <a:ext cx="764857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condição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9944100" y="6643807"/>
            <a:ext cx="7648575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06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900"/>
              <a:buFont typeface="IBM Plex Serif"/>
              <a:buNone/>
            </a:pPr>
            <a:r>
              <a:rPr b="1" i="0" lang="en-US" spc="-58" sz="39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Infectada com SARS-CoV-2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1047750" y="9174480"/>
            <a:ext cx="1781175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A referência é o trabalho de </a:t>
            </a:r>
            <a:r>
              <a:rPr b="1" i="0" lang="en-US" sz="2100" u="sng" cap="none" strike="noStrike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3"/>
              </a:rPr>
              <a:t>Blanco-Melo et al., Cell 2020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Resumo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Resumo - Transcriptômica comparativa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1047750" y="3210997"/>
            <a:ext cx="3533775" cy="131445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1310640" y="3435787"/>
            <a:ext cx="330879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Sequenciamento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1310640" y="3927277"/>
            <a:ext cx="952500" cy="37338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1443990" y="3965377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4343425" y="3142063"/>
            <a:ext cx="11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lang="en-US" sz="4000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💻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543425" y="3807262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5267325" y="3210997"/>
            <a:ext cx="3533775" cy="131445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5530215" y="3435787"/>
            <a:ext cx="330879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Controle de qualidade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5530215" y="3927277"/>
            <a:ext cx="952500" cy="37338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5663565" y="3965377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5090636" y="4601647"/>
            <a:ext cx="38871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3629025" y="5578912"/>
            <a:ext cx="952500" cy="37338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3762375" y="5617012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4543425" y="5556052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5267325" y="5096946"/>
            <a:ext cx="3533775" cy="133731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474E5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5530215" y="5321737"/>
            <a:ext cx="256358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Montagem </a:t>
            </a:r>
            <a:r>
              <a:rPr b="1" i="1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novo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8270081" y="5321737"/>
            <a:ext cx="34432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586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700"/>
              <a:buFont typeface="IBM Plex Mono"/>
              <a:buNone/>
            </a:pPr>
            <a:r>
              <a:rPr b="0" i="0" lang="en-US" sz="27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↻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5530215" y="5836087"/>
            <a:ext cx="952500" cy="37338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5663565" y="5874187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8763000" y="5556052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9486900" y="5108377"/>
            <a:ext cx="3533775" cy="131445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9749790" y="5333167"/>
            <a:ext cx="330879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Transcriptoma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9749790" y="5824657"/>
            <a:ext cx="952500" cy="37338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9883140" y="5862757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9310211" y="6510457"/>
            <a:ext cx="38871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9486900" y="7062907"/>
            <a:ext cx="3533775" cy="12954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9749790" y="7287696"/>
            <a:ext cx="309823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Quantificação das amostras/replicatas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12982575" y="7501057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13706475" y="7005757"/>
            <a:ext cx="3533775" cy="14097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13969365" y="7230546"/>
            <a:ext cx="3098235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Anotação ou enriquecimento funcional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11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 rot="2700000">
            <a:off x="8965714" y="4210816"/>
            <a:ext cx="1186667" cy="457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9661075" y="7946575"/>
            <a:ext cx="952500" cy="335400"/>
          </a:xfrm>
          <a:prstGeom prst="rect">
            <a:avLst/>
          </a:prstGeom>
          <a:solidFill>
            <a:schemeClr val="accent6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10822663" y="7946575"/>
            <a:ext cx="952500" cy="335400"/>
          </a:xfrm>
          <a:prstGeom prst="rect">
            <a:avLst/>
          </a:prstGeom>
          <a:solidFill>
            <a:srgbClr val="CC412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 txBox="1"/>
          <p:nvPr/>
        </p:nvSpPr>
        <p:spPr>
          <a:xfrm>
            <a:off x="9688700" y="7922500"/>
            <a:ext cx="84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BAM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10860913" y="7922500"/>
            <a:ext cx="8760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TSV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Resumo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Resumo - Alinhamento: transcriptoma x genoma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1047750" y="3965377"/>
            <a:ext cx="4711660" cy="17145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1386840" y="4266367"/>
            <a:ext cx="4436828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58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erif"/>
              <a:buNone/>
            </a:pPr>
            <a:r>
              <a:rPr b="1" i="0" lang="en-US" spc="-49" sz="33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Genoma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1386840" y="5005507"/>
            <a:ext cx="952500" cy="37338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1520190" y="5043607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1047750" y="5946577"/>
            <a:ext cx="4711660" cy="17145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1386840" y="6247567"/>
            <a:ext cx="4436828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58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erif"/>
              <a:buNone/>
            </a:pPr>
            <a:r>
              <a:rPr b="1" i="0" lang="en-US" spc="-49" sz="33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Reads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1386840" y="6986707"/>
            <a:ext cx="952500" cy="37338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1520190" y="7024807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5911811" y="8076367"/>
            <a:ext cx="304800" cy="381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5911811" y="3511987"/>
            <a:ext cx="304800" cy="381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6178511" y="3511987"/>
            <a:ext cx="38100" cy="460248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6178511" y="5603677"/>
            <a:ext cx="3067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6902411" y="4955977"/>
            <a:ext cx="4711660" cy="17145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7241500" y="5256967"/>
            <a:ext cx="4436828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58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erif"/>
              <a:buNone/>
            </a:pPr>
            <a:r>
              <a:rPr b="1" i="0" lang="en-US" spc="-49" sz="33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Alinhamento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7241500" y="5996107"/>
            <a:ext cx="678180" cy="37338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7374850" y="6034207"/>
            <a:ext cx="4876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BAM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11575971" y="5603677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12528471" y="4955977"/>
            <a:ext cx="4711660" cy="17145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12867561" y="5256967"/>
            <a:ext cx="4436828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58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erif"/>
              <a:buNone/>
            </a:pPr>
            <a:r>
              <a:rPr b="1" i="0" lang="en-US" spc="-49" sz="33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Visualizar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12867561" y="5996107"/>
            <a:ext cx="678180" cy="37338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13000911" y="6034207"/>
            <a:ext cx="4876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IGV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/>
          <p:cNvSpPr/>
          <p:nvPr/>
        </p:nvSpPr>
        <p:spPr>
          <a:xfrm>
            <a:off x="1047750" y="7715250"/>
            <a:ext cx="17811750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972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5000"/>
              <a:buFont typeface="IBM Plex Serif"/>
              <a:buNone/>
            </a:pPr>
            <a:r>
              <a:rPr b="1" lang="en-US" spc="-600" sz="15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Mão na massa!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5"/>
          <p:cNvSpPr/>
          <p:nvPr/>
        </p:nvSpPr>
        <p:spPr>
          <a:xfrm>
            <a:off x="1047750" y="952500"/>
            <a:ext cx="1581150" cy="762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2705100" y="952500"/>
            <a:ext cx="15811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4362450" y="952500"/>
            <a:ext cx="316230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7600950" y="952500"/>
            <a:ext cx="316230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10839450" y="952500"/>
            <a:ext cx="15811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12496800" y="952500"/>
            <a:ext cx="47434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1047750" y="12192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Font typeface="IBM Plex Mono"/>
              <a:buNone/>
            </a:pPr>
            <a:r>
              <a:rPr b="0" i="0" lang="en-US" spc="72" sz="18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Etapa 01 /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1047750" y="6058734"/>
            <a:ext cx="17811750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i="0" lang="en-US" spc="-840" sz="210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01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1047750" y="8592384"/>
            <a:ext cx="15716250" cy="9707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i="0" lang="en-US" spc="-108" sz="72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Baixando e preparando dados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6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Baixando e preparando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1047750" y="3072765"/>
            <a:ext cx="5194221" cy="478155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1047750" y="3072765"/>
            <a:ext cx="5194221" cy="762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1390650" y="3491865"/>
            <a:ext cx="952500" cy="37338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1524000" y="3529965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1390650" y="4093845"/>
            <a:ext cx="4959263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74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600"/>
              <a:buFont typeface="IBM Plex Serif"/>
              <a:buNone/>
            </a:pPr>
            <a:r>
              <a:rPr b="1" i="0" lang="en-US" spc="-54" sz="36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Banco de dados SRA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1390650" y="4825365"/>
            <a:ext cx="4643673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1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Sequencing Read Archive 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: é o maior repositório público do mundo para dados brutos de sequenciamento.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1390650" y="6547485"/>
            <a:ext cx="4508421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1390650" y="6772275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1689735" y="6779895"/>
            <a:ext cx="43356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913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Serão nossos dados de sequenciamento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6546771" y="3072765"/>
            <a:ext cx="5194340" cy="478155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6546771" y="3072765"/>
            <a:ext cx="5194340" cy="762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6"/>
          <p:cNvSpPr/>
          <p:nvPr/>
        </p:nvSpPr>
        <p:spPr>
          <a:xfrm>
            <a:off x="6889671" y="3491865"/>
            <a:ext cx="952500" cy="37338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7023021" y="3529965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6889671" y="4093845"/>
            <a:ext cx="495939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74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600"/>
              <a:buFont typeface="IBM Plex Serif"/>
              <a:buNone/>
            </a:pPr>
            <a:r>
              <a:rPr b="1" i="0" lang="en-US" spc="-54" sz="36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Projeto GENCODE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6889671" y="4825365"/>
            <a:ext cx="4643796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Consórcio internacional para curadoria de características genéticas humanas e de camundongo.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6889671" y="6547485"/>
            <a:ext cx="450854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6889671" y="6772275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7188756" y="6779895"/>
            <a:ext cx="433573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913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Será nossa referência de transcriptoma humano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12045910" y="3072765"/>
            <a:ext cx="5194340" cy="478155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6"/>
          <p:cNvSpPr/>
          <p:nvPr/>
        </p:nvSpPr>
        <p:spPr>
          <a:xfrm>
            <a:off x="12045910" y="3072765"/>
            <a:ext cx="5194340" cy="762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12388810" y="3491865"/>
            <a:ext cx="952500" cy="37338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12522160" y="3529965"/>
            <a:ext cx="7620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12388810" y="4093845"/>
            <a:ext cx="4643796" cy="1043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74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600"/>
              <a:buFont typeface="IBM Plex Serif"/>
              <a:buNone/>
            </a:pPr>
            <a:r>
              <a:rPr b="1" i="0" lang="en-US" spc="-54" sz="36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Genoma de SARS-CoV2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12388810" y="5328285"/>
            <a:ext cx="4643796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Genoma montado ainda em 2020.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12388810" y="6547485"/>
            <a:ext cx="450854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12388810" y="6772275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12687895" y="6779895"/>
            <a:ext cx="433573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913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Será nossa referência para o transcriptoma viral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14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7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Baixando e preparando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Baixar o GENCODE e o Genoma de SARS-CoV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1047750" y="2558772"/>
            <a:ext cx="6228968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wget </a:t>
            </a: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é o programa padrão do Linux para baixar arquivos usando um link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1047750" y="3770352"/>
            <a:ext cx="6047542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7"/>
          <p:cNvSpPr/>
          <p:nvPr/>
        </p:nvSpPr>
        <p:spPr>
          <a:xfrm>
            <a:off x="1047750" y="4052292"/>
            <a:ext cx="665229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-O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1047750" y="4459962"/>
            <a:ext cx="665229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nome para o arquivo de saída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1047750" y="7635240"/>
            <a:ext cx="6047542" cy="188976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7"/>
          <p:cNvSpPr/>
          <p:nvPr/>
        </p:nvSpPr>
        <p:spPr>
          <a:xfrm>
            <a:off x="1367790" y="7936230"/>
            <a:ext cx="594820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onde estamos baixando?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1367790" y="8477250"/>
            <a:ext cx="5569686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Lembra do NCBI e do ENA que falamos na primeira aula?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7781092" y="2558772"/>
            <a:ext cx="9459159" cy="346329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7796332" y="3175992"/>
            <a:ext cx="9428679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8063032" y="2726412"/>
            <a:ext cx="9178139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terminal — bash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8063032" y="3438882"/>
            <a:ext cx="978480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# Genoma do SARS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8063032" y="3854172"/>
            <a:ext cx="9162137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$ </a:t>
            </a: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wget -O NC_045512.2.fa "https://eutils.ncbi.nlm.nih.gov/entrez/eutils/efetch.fcgi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8063032" y="4703802"/>
            <a:ext cx="978480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# Referência GENCODE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8063032" y="5119092"/>
            <a:ext cx="9162137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$ </a:t>
            </a: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wget https://ftp.ebi.ac.uk/pub/databases/gencode/Gencode_human/latest_release/gencode.v50.transcripts.fa.gz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7781092" y="6250662"/>
            <a:ext cx="4615220" cy="174974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6332" y="6265902"/>
            <a:ext cx="4584740" cy="1719263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7"/>
          <p:cNvSpPr/>
          <p:nvPr/>
        </p:nvSpPr>
        <p:spPr>
          <a:xfrm>
            <a:off x="12624912" y="6250662"/>
            <a:ext cx="4615339" cy="1892617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4" name="Google Shape;5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40152" y="6265902"/>
            <a:ext cx="4584859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7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15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8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Baixando e preparando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Baixar o GENCODE e o Genoma de SARS-CoV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1047750" y="2368272"/>
            <a:ext cx="1781175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Vamos no GitHub do nosso curso e clicar em </a:t>
            </a: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Releases </a:t>
            </a:r>
            <a:r>
              <a:rPr b="0" i="0" lang="en-US" sz="2550" u="none" cap="none" strike="noStrike">
                <a:solidFill>
                  <a:srgbClr val="0961B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› </a:t>
            </a: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Arquivos SRR e GENCODE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1047750" y="4230529"/>
            <a:ext cx="930297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Releases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1047750" y="4680109"/>
            <a:ext cx="8457248" cy="281868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7" name="Google Shape;5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90" y="4695349"/>
            <a:ext cx="8426768" cy="2788206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8"/>
          <p:cNvSpPr/>
          <p:nvPr/>
        </p:nvSpPr>
        <p:spPr>
          <a:xfrm>
            <a:off x="9885998" y="4230529"/>
            <a:ext cx="8089547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· Arquivos SRR e GENCODE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9885998" y="4680109"/>
            <a:ext cx="7354134" cy="214074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1238" y="4695349"/>
            <a:ext cx="7323654" cy="211026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8"/>
          <p:cNvSpPr/>
          <p:nvPr/>
        </p:nvSpPr>
        <p:spPr>
          <a:xfrm>
            <a:off x="1047750" y="8907780"/>
            <a:ext cx="7225665" cy="61722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8"/>
          <p:cNvSpPr/>
          <p:nvPr/>
        </p:nvSpPr>
        <p:spPr>
          <a:xfrm>
            <a:off x="1295400" y="9041130"/>
            <a:ext cx="7162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2106930" y="9041130"/>
            <a:ext cx="22288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2425065" y="9041130"/>
            <a:ext cx="5768721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github.com/211295/Workshop/releases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16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9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Baixando e preparando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Arquivos do sequenciamento SRR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1047750" y="2368272"/>
            <a:ext cx="1667827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839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Vamos usar </a:t>
            </a:r>
            <a:r>
              <a:rPr b="1" i="0" lang="en-US" sz="2550" u="none" cap="none" strike="noStrike">
                <a:solidFill>
                  <a:srgbClr val="3A7BCB"/>
                </a:solidFill>
                <a:highlight>
                  <a:srgbClr val="EDEBE5"/>
                </a:highlight>
                <a:latin typeface="IBM Plex Mono"/>
                <a:ea typeface="IBM Plex Mono"/>
                <a:cs typeface="IBM Plex Mono"/>
                <a:sym typeface="IBM Plex Mono"/>
              </a:rPr>
              <a:t>SRR11517744 </a:t>
            </a: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(controle) e </a:t>
            </a:r>
            <a:r>
              <a:rPr b="1" i="0" lang="en-US" sz="2550" u="none" cap="none" strike="noStrike">
                <a:solidFill>
                  <a:srgbClr val="BF5257"/>
                </a:solidFill>
                <a:highlight>
                  <a:srgbClr val="EDEBE5"/>
                </a:highlight>
                <a:latin typeface="IBM Plex Mono"/>
                <a:ea typeface="IBM Plex Mono"/>
                <a:cs typeface="IBM Plex Mono"/>
                <a:sym typeface="IBM Plex Mono"/>
              </a:rPr>
              <a:t>SRR11517748 </a:t>
            </a: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(doença, para SARS-CoV2). Os arquivos estarão no GitHub.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9"/>
          <p:cNvSpPr/>
          <p:nvPr/>
        </p:nvSpPr>
        <p:spPr>
          <a:xfrm>
            <a:off x="1047750" y="4264462"/>
            <a:ext cx="13346431" cy="46405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6" name="Google Shape;5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90" y="4279702"/>
            <a:ext cx="13315950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9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17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Curiosidade de novo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0961B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Curiosidade: </a:t>
            </a: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e sem um GENCODE?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1047750" y="2215872"/>
            <a:ext cx="1781175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(Ou seja, 99,999% das espécies)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1047750" y="3175992"/>
            <a:ext cx="1781175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58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Montamos um transcriptoma </a:t>
            </a:r>
            <a:r>
              <a:rPr b="0" i="1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novo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1047750" y="4098012"/>
            <a:ext cx="3648075" cy="381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0"/>
          <p:cNvSpPr/>
          <p:nvPr/>
        </p:nvSpPr>
        <p:spPr>
          <a:xfrm>
            <a:off x="1047750" y="4364712"/>
            <a:ext cx="401288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1047750" y="4848582"/>
            <a:ext cx="401288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Montar transcritos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1047750" y="5370552"/>
            <a:ext cx="401288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Trinity · SPAdes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4657725" y="4966692"/>
            <a:ext cx="60960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5229225" y="4098012"/>
            <a:ext cx="3648075" cy="381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5229225" y="4364712"/>
            <a:ext cx="401288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5229225" y="4848582"/>
            <a:ext cx="401288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Avaliar completude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5229225" y="5370552"/>
            <a:ext cx="401288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8839200" y="4966692"/>
            <a:ext cx="60960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9410700" y="4098012"/>
            <a:ext cx="3648075" cy="381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9410700" y="4364712"/>
            <a:ext cx="401288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9410700" y="4848582"/>
            <a:ext cx="401288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Descobrir CDS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13020675" y="4966692"/>
            <a:ext cx="60960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13592175" y="4098012"/>
            <a:ext cx="3648075" cy="381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0"/>
          <p:cNvSpPr/>
          <p:nvPr/>
        </p:nvSpPr>
        <p:spPr>
          <a:xfrm>
            <a:off x="13592175" y="4364712"/>
            <a:ext cx="401288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13592175" y="4848582"/>
            <a:ext cx="3757517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Anotar por espécie próxima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13592175" y="5759172"/>
            <a:ext cx="401288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BLAST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1047750" y="7616190"/>
            <a:ext cx="7867650" cy="190881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0"/>
          <p:cNvSpPr/>
          <p:nvPr/>
        </p:nvSpPr>
        <p:spPr>
          <a:xfrm>
            <a:off x="1405890" y="7936230"/>
            <a:ext cx="7866507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257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BF5257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Parálogos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1405890" y="8458200"/>
            <a:ext cx="7365911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Cópias parecidas se embaralham em um único transcrito e geram mais formas do que existem de verdade.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9372600" y="7616190"/>
            <a:ext cx="7867650" cy="190881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0"/>
          <p:cNvSpPr/>
          <p:nvPr/>
        </p:nvSpPr>
        <p:spPr>
          <a:xfrm>
            <a:off x="9730740" y="7936230"/>
            <a:ext cx="7866507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257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BF5257"/>
                </a:solidFill>
                <a:latin typeface="IBM Plex Sans"/>
                <a:ea typeface="IBM Plex Sans"/>
                <a:cs typeface="IBM Plex Sans"/>
                <a:sym typeface="IBM Plex Sans"/>
              </a:rPr>
              <a:t>Quimeras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9730740" y="8458200"/>
            <a:ext cx="7365911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O montador une transcritos de genes diferentes. </a:t>
            </a:r>
            <a:r>
              <a:rPr b="1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NÃO EXISTE BIOLOGICAMENTE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18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1"/>
          <p:cNvSpPr/>
          <p:nvPr/>
        </p:nvSpPr>
        <p:spPr>
          <a:xfrm>
            <a:off x="104775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1"/>
          <p:cNvSpPr/>
          <p:nvPr/>
        </p:nvSpPr>
        <p:spPr>
          <a:xfrm>
            <a:off x="2705100" y="952500"/>
            <a:ext cx="1581150" cy="762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"/>
          <p:cNvSpPr/>
          <p:nvPr/>
        </p:nvSpPr>
        <p:spPr>
          <a:xfrm>
            <a:off x="4362450" y="952500"/>
            <a:ext cx="316230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1"/>
          <p:cNvSpPr/>
          <p:nvPr/>
        </p:nvSpPr>
        <p:spPr>
          <a:xfrm>
            <a:off x="7600950" y="952500"/>
            <a:ext cx="316230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10839450" y="952500"/>
            <a:ext cx="15811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1"/>
          <p:cNvSpPr/>
          <p:nvPr/>
        </p:nvSpPr>
        <p:spPr>
          <a:xfrm>
            <a:off x="12496800" y="952500"/>
            <a:ext cx="47434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1"/>
          <p:cNvSpPr/>
          <p:nvPr/>
        </p:nvSpPr>
        <p:spPr>
          <a:xfrm>
            <a:off x="1047750" y="12192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Font typeface="IBM Plex Mono"/>
              <a:buNone/>
            </a:pPr>
            <a:r>
              <a:rPr b="0" i="0" lang="en-US" spc="72" sz="18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Etapa 02 /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1047750" y="6058734"/>
            <a:ext cx="17811750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i="0" lang="en-US" spc="-840" sz="210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02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1047750" y="8592384"/>
            <a:ext cx="15716250" cy="9707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i="0" lang="en-US" spc="-108" sz="72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Controle de qualidade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2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· Controle de qualidade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1047750" y="1402080"/>
            <a:ext cx="17811750" cy="967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FASTQ e o Phred score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1047750" y="2636520"/>
            <a:ext cx="8171974" cy="258318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2"/>
          <p:cNvSpPr/>
          <p:nvPr/>
        </p:nvSpPr>
        <p:spPr>
          <a:xfrm>
            <a:off x="1405890" y="3009900"/>
            <a:ext cx="20955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Cabeçalho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3539490" y="2956560"/>
            <a:ext cx="585430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250"/>
              <a:buFont typeface="IBM Plex Mono"/>
              <a:buNone/>
            </a:pPr>
            <a:r>
              <a:rPr b="0" i="0" lang="en-US" sz="22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@HWI-ST227:389:C4WA2ACXX:7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1405890" y="3533775"/>
            <a:ext cx="20955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3539490" y="3480435"/>
            <a:ext cx="585430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250"/>
              <a:buFont typeface="IBM Plex Mono"/>
              <a:buNone/>
            </a:pP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GGAGGAAGGTCCTCGCTCCTCTTTCATA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1405890" y="4057650"/>
            <a:ext cx="20955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Separador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3539490" y="4004310"/>
            <a:ext cx="585430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250"/>
              <a:buFont typeface="IBM Plex Mono"/>
              <a:buNone/>
            </a:pPr>
            <a:r>
              <a:rPr b="0" i="0" lang="en-US" sz="225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+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1405890" y="4581525"/>
            <a:ext cx="20955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3539490" y="4528185"/>
            <a:ext cx="585430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250"/>
              <a:buFont typeface="IBM Plex Mono"/>
              <a:buNone/>
            </a:pP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FFFFHHH</a:t>
            </a:r>
            <a:r>
              <a:rPr b="1" i="0" lang="en-US" sz="2250" u="none" cap="none" strike="noStrike">
                <a:solidFill>
                  <a:srgbClr val="F9F6F2"/>
                </a:solidFill>
                <a:highlight>
                  <a:srgbClr val="2A914B"/>
                </a:highlight>
                <a:latin typeface="IBM Plex Mono"/>
                <a:ea typeface="IBM Plex Mono"/>
                <a:cs typeface="IBM Plex Mono"/>
                <a:sym typeface="IBM Plex Mono"/>
              </a:rPr>
              <a:t>J</a:t>
            </a: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IJJJJJIJJIGIG</a:t>
            </a:r>
            <a:r>
              <a:rPr b="1" i="0" lang="en-US" sz="2250" u="none" cap="none" strike="noStrike">
                <a:solidFill>
                  <a:srgbClr val="F9F6F2"/>
                </a:solidFill>
                <a:highlight>
                  <a:srgbClr val="AD6800"/>
                </a:highlight>
                <a:latin typeface="IBM Plex Mono"/>
                <a:ea typeface="IBM Plex Mono"/>
                <a:cs typeface="IBM Plex Mono"/>
                <a:sym typeface="IBM Plex Mono"/>
              </a:rPr>
              <a:t>?</a:t>
            </a: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?55</a:t>
            </a:r>
            <a:r>
              <a:rPr b="1" i="0" lang="en-US" sz="2250" u="none" cap="none" strike="noStrike">
                <a:solidFill>
                  <a:srgbClr val="F9F6F2"/>
                </a:solidFill>
                <a:highlight>
                  <a:srgbClr val="BF5257"/>
                </a:highlight>
                <a:latin typeface="IBM Plex Mono"/>
                <a:ea typeface="IBM Plex Mono"/>
                <a:cs typeface="IBM Plex Mono"/>
                <a:sym typeface="IBM Plex Mono"/>
              </a:rPr>
              <a:t>#</a:t>
            </a: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##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1047750" y="5486400"/>
            <a:ext cx="8417133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Sequência e qualidade têm o mesmo tamanho: um caractere de nota para cada base.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1047750" y="6499860"/>
            <a:ext cx="422910" cy="46482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2"/>
          <p:cNvSpPr/>
          <p:nvPr/>
        </p:nvSpPr>
        <p:spPr>
          <a:xfrm>
            <a:off x="1162050" y="6518910"/>
            <a:ext cx="23660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J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1623060" y="6557010"/>
            <a:ext cx="86296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 Q41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2562225" y="6557010"/>
            <a:ext cx="1239917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excelente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4183142" y="6499860"/>
            <a:ext cx="422910" cy="46482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2"/>
          <p:cNvSpPr/>
          <p:nvPr/>
        </p:nvSpPr>
        <p:spPr>
          <a:xfrm>
            <a:off x="4297442" y="6518910"/>
            <a:ext cx="23660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/>
          <p:nvPr/>
        </p:nvSpPr>
        <p:spPr>
          <a:xfrm>
            <a:off x="4758452" y="6557010"/>
            <a:ext cx="86296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 Q30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2"/>
          <p:cNvSpPr/>
          <p:nvPr/>
        </p:nvSpPr>
        <p:spPr>
          <a:xfrm>
            <a:off x="5697617" y="6557010"/>
            <a:ext cx="152879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limiar usual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1047750" y="7155180"/>
            <a:ext cx="422910" cy="46482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2"/>
          <p:cNvSpPr/>
          <p:nvPr/>
        </p:nvSpPr>
        <p:spPr>
          <a:xfrm>
            <a:off x="1162050" y="7174230"/>
            <a:ext cx="236601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#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2"/>
          <p:cNvSpPr/>
          <p:nvPr/>
        </p:nvSpPr>
        <p:spPr>
          <a:xfrm>
            <a:off x="1623060" y="7212330"/>
            <a:ext cx="70294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 Q2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2"/>
          <p:cNvSpPr/>
          <p:nvPr/>
        </p:nvSpPr>
        <p:spPr>
          <a:xfrm>
            <a:off x="2402205" y="7212330"/>
            <a:ext cx="12167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descartar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2"/>
          <p:cNvSpPr/>
          <p:nvPr/>
        </p:nvSpPr>
        <p:spPr>
          <a:xfrm>
            <a:off x="10134124" y="3105150"/>
            <a:ext cx="7106008" cy="2286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2"/>
          <p:cNvSpPr/>
          <p:nvPr/>
        </p:nvSpPr>
        <p:spPr>
          <a:xfrm>
            <a:off x="10362724" y="2636520"/>
            <a:ext cx="1219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11505724" y="2636520"/>
            <a:ext cx="3028129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erro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13983272" y="2636520"/>
            <a:ext cx="3028259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acurácia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10134124" y="3973830"/>
            <a:ext cx="7106008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"/>
          <p:cNvSpPr/>
          <p:nvPr/>
        </p:nvSpPr>
        <p:spPr>
          <a:xfrm>
            <a:off x="10362724" y="3337560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Q10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11505724" y="3337560"/>
            <a:ext cx="302812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1 em 10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13983272" y="3337560"/>
            <a:ext cx="302825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90%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10134124" y="4834890"/>
            <a:ext cx="7106008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10362724" y="4198620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Q20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11505724" y="4198620"/>
            <a:ext cx="302812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1 em 100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13983272" y="4198620"/>
            <a:ext cx="302825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99%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10134124" y="4850130"/>
            <a:ext cx="7106008" cy="84582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2"/>
          <p:cNvSpPr/>
          <p:nvPr/>
        </p:nvSpPr>
        <p:spPr>
          <a:xfrm>
            <a:off x="10362724" y="5059680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Q30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11505724" y="5059680"/>
            <a:ext cx="302812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1 em 1.000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13983272" y="5059680"/>
            <a:ext cx="302825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99,9%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2"/>
          <p:cNvSpPr/>
          <p:nvPr/>
        </p:nvSpPr>
        <p:spPr>
          <a:xfrm>
            <a:off x="10134124" y="6541770"/>
            <a:ext cx="7106008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2"/>
          <p:cNvSpPr/>
          <p:nvPr/>
        </p:nvSpPr>
        <p:spPr>
          <a:xfrm>
            <a:off x="10362724" y="5905500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Q40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11505724" y="5905500"/>
            <a:ext cx="302812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1 em 10.000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13983272" y="5905500"/>
            <a:ext cx="3028259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99,99%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2"/>
          <p:cNvSpPr/>
          <p:nvPr/>
        </p:nvSpPr>
        <p:spPr>
          <a:xfrm>
            <a:off x="10134124" y="6938010"/>
            <a:ext cx="7816608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Q = −10 · log₁₀(P)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10134124" y="7593330"/>
            <a:ext cx="7319188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+10 divide a chance de erro por 10. A nota vira caractere ASCII somando 33 (Phred+33).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1047750" y="922782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Adaptado de biocorecrg.github.io/PhD_course_genomics_format_2021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2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20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3"/>
          <p:cNvSpPr/>
          <p:nvPr/>
        </p:nvSpPr>
        <p:spPr>
          <a:xfrm>
            <a:off x="104775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3"/>
          <p:cNvSpPr/>
          <p:nvPr/>
        </p:nvSpPr>
        <p:spPr>
          <a:xfrm>
            <a:off x="270510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3"/>
          <p:cNvSpPr/>
          <p:nvPr/>
        </p:nvSpPr>
        <p:spPr>
          <a:xfrm>
            <a:off x="4362450" y="952500"/>
            <a:ext cx="3162300" cy="762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7600950" y="952500"/>
            <a:ext cx="316230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3"/>
          <p:cNvSpPr/>
          <p:nvPr/>
        </p:nvSpPr>
        <p:spPr>
          <a:xfrm>
            <a:off x="10839450" y="952500"/>
            <a:ext cx="15811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12496800" y="952500"/>
            <a:ext cx="47434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3"/>
          <p:cNvSpPr/>
          <p:nvPr/>
        </p:nvSpPr>
        <p:spPr>
          <a:xfrm>
            <a:off x="1047750" y="12192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Font typeface="IBM Plex Mono"/>
              <a:buNone/>
            </a:pPr>
            <a:r>
              <a:rPr b="0" i="0" lang="en-US" spc="72" sz="18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Etapas 03–04 /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3"/>
          <p:cNvSpPr/>
          <p:nvPr/>
        </p:nvSpPr>
        <p:spPr>
          <a:xfrm>
            <a:off x="1047750" y="5429250"/>
            <a:ext cx="1781175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6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0"/>
              <a:buFont typeface="IBM Plex Serif"/>
              <a:buNone/>
            </a:pPr>
            <a:r>
              <a:rPr b="1" i="0" lang="en-US" spc="-720" sz="180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03–04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3"/>
          <p:cNvSpPr/>
          <p:nvPr/>
        </p:nvSpPr>
        <p:spPr>
          <a:xfrm>
            <a:off x="1047750" y="8012430"/>
            <a:ext cx="57912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3"/>
          <p:cNvSpPr/>
          <p:nvPr/>
        </p:nvSpPr>
        <p:spPr>
          <a:xfrm>
            <a:off x="1893570" y="7753350"/>
            <a:ext cx="6708874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346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5700"/>
              <a:buFont typeface="IBM Plex Serif"/>
              <a:buNone/>
            </a:pPr>
            <a:r>
              <a:rPr b="1" i="0" lang="en-US" spc="-85" sz="57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Criando um índex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3"/>
          <p:cNvSpPr/>
          <p:nvPr/>
        </p:nvSpPr>
        <p:spPr>
          <a:xfrm>
            <a:off x="1047750" y="8983980"/>
            <a:ext cx="57912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3"/>
          <p:cNvSpPr/>
          <p:nvPr/>
        </p:nvSpPr>
        <p:spPr>
          <a:xfrm>
            <a:off x="1893570" y="8724900"/>
            <a:ext cx="5382947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346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5700"/>
              <a:buFont typeface="IBM Plex Serif"/>
              <a:buNone/>
            </a:pPr>
            <a:r>
              <a:rPr b="1" i="0" lang="en-US" spc="-85" sz="57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Quantificando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4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03–04 · Índex e quantificação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4"/>
          <p:cNvSpPr/>
          <p:nvPr/>
        </p:nvSpPr>
        <p:spPr>
          <a:xfrm>
            <a:off x="1047750" y="2330172"/>
            <a:ext cx="147523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956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4800"/>
              <a:buFont typeface="IBM Plex Serif"/>
              <a:buNone/>
            </a:pPr>
            <a:r>
              <a:rPr b="1" i="0" lang="en-US" spc="-72" sz="48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TPM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4"/>
          <p:cNvSpPr/>
          <p:nvPr/>
        </p:nvSpPr>
        <p:spPr>
          <a:xfrm>
            <a:off x="2617470" y="2433042"/>
            <a:ext cx="1650563" cy="40386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4"/>
          <p:cNvSpPr/>
          <p:nvPr/>
        </p:nvSpPr>
        <p:spPr>
          <a:xfrm>
            <a:off x="2766060" y="2486382"/>
            <a:ext cx="142958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1" i="0" lang="en-US" spc="252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CONTAGEM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4"/>
          <p:cNvSpPr/>
          <p:nvPr/>
        </p:nvSpPr>
        <p:spPr>
          <a:xfrm>
            <a:off x="1047750" y="3092172"/>
            <a:ext cx="8998052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5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Transcritos Por Milhão: deixa a expressão comparável entre transcritos e entre amostras.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4"/>
          <p:cNvSpPr/>
          <p:nvPr/>
        </p:nvSpPr>
        <p:spPr>
          <a:xfrm>
            <a:off x="1047750" y="4040862"/>
            <a:ext cx="8735973" cy="203073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4"/>
          <p:cNvSpPr/>
          <p:nvPr/>
        </p:nvSpPr>
        <p:spPr>
          <a:xfrm>
            <a:off x="1520904" y="4513302"/>
            <a:ext cx="1092994" cy="114300"/>
          </a:xfrm>
          <a:prstGeom prst="roundRect">
            <a:avLst>
              <a:gd fmla="val 50000" name="adj"/>
            </a:avLst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4"/>
          <p:cNvSpPr/>
          <p:nvPr/>
        </p:nvSpPr>
        <p:spPr>
          <a:xfrm>
            <a:off x="2844046" y="4513302"/>
            <a:ext cx="1092994" cy="114300"/>
          </a:xfrm>
          <a:prstGeom prst="roundRect">
            <a:avLst>
              <a:gd fmla="val 50000" name="adj"/>
            </a:avLst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4"/>
          <p:cNvSpPr/>
          <p:nvPr/>
        </p:nvSpPr>
        <p:spPr>
          <a:xfrm>
            <a:off x="1405890" y="4741902"/>
            <a:ext cx="2646164" cy="1905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4"/>
          <p:cNvSpPr/>
          <p:nvPr/>
        </p:nvSpPr>
        <p:spPr>
          <a:xfrm>
            <a:off x="7425333" y="4341852"/>
            <a:ext cx="22002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 reads · 1 kb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4"/>
          <p:cNvSpPr/>
          <p:nvPr/>
        </p:nvSpPr>
        <p:spPr>
          <a:xfrm>
            <a:off x="7425333" y="4646652"/>
            <a:ext cx="22002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RPK =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4"/>
          <p:cNvSpPr/>
          <p:nvPr/>
        </p:nvSpPr>
        <p:spPr>
          <a:xfrm>
            <a:off x="1520904" y="5351502"/>
            <a:ext cx="1092994" cy="114300"/>
          </a:xfrm>
          <a:prstGeom prst="roundRect">
            <a:avLst>
              <a:gd fmla="val 50000" name="adj"/>
            </a:avLst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4"/>
          <p:cNvSpPr/>
          <p:nvPr/>
        </p:nvSpPr>
        <p:spPr>
          <a:xfrm>
            <a:off x="2844046" y="5351502"/>
            <a:ext cx="1092994" cy="114300"/>
          </a:xfrm>
          <a:prstGeom prst="roundRect">
            <a:avLst>
              <a:gd fmla="val 50000" name="adj"/>
            </a:avLst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4"/>
          <p:cNvSpPr/>
          <p:nvPr/>
        </p:nvSpPr>
        <p:spPr>
          <a:xfrm>
            <a:off x="4167188" y="5351502"/>
            <a:ext cx="1092994" cy="114300"/>
          </a:xfrm>
          <a:prstGeom prst="roundRect">
            <a:avLst>
              <a:gd fmla="val 50000" name="adj"/>
            </a:avLst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4"/>
          <p:cNvSpPr/>
          <p:nvPr/>
        </p:nvSpPr>
        <p:spPr>
          <a:xfrm>
            <a:off x="5490329" y="5351502"/>
            <a:ext cx="1092994" cy="114300"/>
          </a:xfrm>
          <a:prstGeom prst="roundRect">
            <a:avLst>
              <a:gd fmla="val 50000" name="adj"/>
            </a:avLst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4"/>
          <p:cNvSpPr/>
          <p:nvPr/>
        </p:nvSpPr>
        <p:spPr>
          <a:xfrm>
            <a:off x="1405890" y="5580102"/>
            <a:ext cx="5292447" cy="19050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4"/>
          <p:cNvSpPr/>
          <p:nvPr/>
        </p:nvSpPr>
        <p:spPr>
          <a:xfrm>
            <a:off x="7425333" y="5180052"/>
            <a:ext cx="22002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4 reads · 2 kb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4"/>
          <p:cNvSpPr/>
          <p:nvPr/>
        </p:nvSpPr>
        <p:spPr>
          <a:xfrm>
            <a:off x="7425333" y="5484852"/>
            <a:ext cx="22002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RPK =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4"/>
          <p:cNvSpPr/>
          <p:nvPr/>
        </p:nvSpPr>
        <p:spPr>
          <a:xfrm>
            <a:off x="1047750" y="6300192"/>
            <a:ext cx="960957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1" i="0" lang="en-US" sz="25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RPK = reads ÷ tamanho (kb)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4"/>
          <p:cNvSpPr/>
          <p:nvPr/>
        </p:nvSpPr>
        <p:spPr>
          <a:xfrm>
            <a:off x="1047750" y="6726912"/>
            <a:ext cx="8998052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Transcritos maiores recebem mais reads só por serem maiores. Dividir pelo tamanho corrige isso.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1047750" y="7519392"/>
            <a:ext cx="8735973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4"/>
          <p:cNvSpPr/>
          <p:nvPr/>
        </p:nvSpPr>
        <p:spPr>
          <a:xfrm>
            <a:off x="1047750" y="7725133"/>
            <a:ext cx="960957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1" i="0" lang="en-US" sz="25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TPM = RPK ÷ soma dos RPK × 10⁶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4"/>
          <p:cNvSpPr/>
          <p:nvPr/>
        </p:nvSpPr>
        <p:spPr>
          <a:xfrm>
            <a:off x="1047750" y="8151852"/>
            <a:ext cx="8998052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lang="en-US" sz="22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Normalização</a:t>
            </a:r>
            <a:r>
              <a:rPr b="0" i="0" lang="en-US" sz="22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: </a:t>
            </a:r>
            <a:r>
              <a:rPr lang="en-US" sz="22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total 1 milhão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4"/>
          <p:cNvSpPr/>
          <p:nvPr/>
        </p:nvSpPr>
        <p:spPr>
          <a:xfrm>
            <a:off x="10621923" y="2330172"/>
            <a:ext cx="380018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956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4800"/>
              <a:buFont typeface="IBM Plex Serif"/>
              <a:buNone/>
            </a:pPr>
            <a:r>
              <a:rPr b="1" i="0" lang="en-US" spc="-72" sz="48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Fold change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4"/>
          <p:cNvSpPr/>
          <p:nvPr/>
        </p:nvSpPr>
        <p:spPr>
          <a:xfrm>
            <a:off x="14305241" y="2433042"/>
            <a:ext cx="1481376" cy="40386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4"/>
          <p:cNvSpPr/>
          <p:nvPr/>
        </p:nvSpPr>
        <p:spPr>
          <a:xfrm>
            <a:off x="14453831" y="2486382"/>
            <a:ext cx="126039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1" i="0" lang="en-US" spc="252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MUDANÇA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4"/>
          <p:cNvSpPr/>
          <p:nvPr/>
        </p:nvSpPr>
        <p:spPr>
          <a:xfrm>
            <a:off x="10621923" y="3130272"/>
            <a:ext cx="6816754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5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Quantas vezes a expressão mudou entre duas condições. Usamos em log₂.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4"/>
          <p:cNvSpPr/>
          <p:nvPr/>
        </p:nvSpPr>
        <p:spPr>
          <a:xfrm>
            <a:off x="10621923" y="4117062"/>
            <a:ext cx="6618208" cy="22098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4"/>
          <p:cNvSpPr/>
          <p:nvPr/>
        </p:nvSpPr>
        <p:spPr>
          <a:xfrm>
            <a:off x="10941964" y="443710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¼×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4"/>
          <p:cNvSpPr/>
          <p:nvPr/>
        </p:nvSpPr>
        <p:spPr>
          <a:xfrm>
            <a:off x="12122348" y="443710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½×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4"/>
          <p:cNvSpPr/>
          <p:nvPr/>
        </p:nvSpPr>
        <p:spPr>
          <a:xfrm>
            <a:off x="13302735" y="443710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1×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4"/>
          <p:cNvSpPr/>
          <p:nvPr/>
        </p:nvSpPr>
        <p:spPr>
          <a:xfrm>
            <a:off x="14483119" y="443710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2×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4"/>
          <p:cNvSpPr/>
          <p:nvPr/>
        </p:nvSpPr>
        <p:spPr>
          <a:xfrm>
            <a:off x="15663506" y="443710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4×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4"/>
          <p:cNvSpPr/>
          <p:nvPr/>
        </p:nvSpPr>
        <p:spPr>
          <a:xfrm>
            <a:off x="10980064" y="4920972"/>
            <a:ext cx="5901928" cy="17145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3A7BCB"/>
              </a:gs>
              <a:gs pos="50000">
                <a:srgbClr val="D4D1CA"/>
              </a:gs>
              <a:gs pos="100000">
                <a:srgbClr val="BF5257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4"/>
          <p:cNvSpPr/>
          <p:nvPr/>
        </p:nvSpPr>
        <p:spPr>
          <a:xfrm>
            <a:off x="11551205" y="4863822"/>
            <a:ext cx="38100" cy="28575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4"/>
          <p:cNvSpPr/>
          <p:nvPr/>
        </p:nvSpPr>
        <p:spPr>
          <a:xfrm>
            <a:off x="12731591" y="4863822"/>
            <a:ext cx="38100" cy="28575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4"/>
          <p:cNvSpPr/>
          <p:nvPr/>
        </p:nvSpPr>
        <p:spPr>
          <a:xfrm>
            <a:off x="13911978" y="4863822"/>
            <a:ext cx="38100" cy="28575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4"/>
          <p:cNvSpPr/>
          <p:nvPr/>
        </p:nvSpPr>
        <p:spPr>
          <a:xfrm>
            <a:off x="15092362" y="4863822"/>
            <a:ext cx="38100" cy="28575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4"/>
          <p:cNvSpPr/>
          <p:nvPr/>
        </p:nvSpPr>
        <p:spPr>
          <a:xfrm>
            <a:off x="16272749" y="4863822"/>
            <a:ext cx="38100" cy="28575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4"/>
          <p:cNvSpPr/>
          <p:nvPr/>
        </p:nvSpPr>
        <p:spPr>
          <a:xfrm>
            <a:off x="10941964" y="522577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−2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4"/>
          <p:cNvSpPr/>
          <p:nvPr/>
        </p:nvSpPr>
        <p:spPr>
          <a:xfrm>
            <a:off x="12122348" y="522577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−1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4"/>
          <p:cNvSpPr/>
          <p:nvPr/>
        </p:nvSpPr>
        <p:spPr>
          <a:xfrm>
            <a:off x="13302735" y="522577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4"/>
          <p:cNvSpPr/>
          <p:nvPr/>
        </p:nvSpPr>
        <p:spPr>
          <a:xfrm>
            <a:off x="14483119" y="522577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+1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4"/>
          <p:cNvSpPr/>
          <p:nvPr/>
        </p:nvSpPr>
        <p:spPr>
          <a:xfrm>
            <a:off x="15663506" y="5225772"/>
            <a:ext cx="125658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+2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4"/>
          <p:cNvSpPr/>
          <p:nvPr/>
        </p:nvSpPr>
        <p:spPr>
          <a:xfrm>
            <a:off x="10980064" y="5709642"/>
            <a:ext cx="220171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CB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3A7BCB"/>
                </a:solidFill>
                <a:latin typeface="IBM Plex Sans"/>
                <a:ea typeface="IBM Plex Sans"/>
                <a:cs typeface="IBM Plex Sans"/>
                <a:sym typeface="IBM Plex Sans"/>
              </a:rPr>
              <a:t>← menos expresso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4"/>
          <p:cNvSpPr/>
          <p:nvPr/>
        </p:nvSpPr>
        <p:spPr>
          <a:xfrm>
            <a:off x="15080456" y="5709642"/>
            <a:ext cx="198168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25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BF5257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mais expresso 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4"/>
          <p:cNvSpPr/>
          <p:nvPr/>
        </p:nvSpPr>
        <p:spPr>
          <a:xfrm>
            <a:off x="10621923" y="6593562"/>
            <a:ext cx="728002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130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5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log₂FC = log₂(tratado ÷ controle)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4"/>
          <p:cNvSpPr/>
          <p:nvPr/>
        </p:nvSpPr>
        <p:spPr>
          <a:xfrm>
            <a:off x="10621923" y="7146012"/>
            <a:ext cx="728002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5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Precisa vir com o p-valor ajustado.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4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4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22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5"/>
          <p:cNvSpPr/>
          <p:nvPr/>
        </p:nvSpPr>
        <p:spPr>
          <a:xfrm>
            <a:off x="104775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5"/>
          <p:cNvSpPr/>
          <p:nvPr/>
        </p:nvSpPr>
        <p:spPr>
          <a:xfrm>
            <a:off x="270510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5"/>
          <p:cNvSpPr/>
          <p:nvPr/>
        </p:nvSpPr>
        <p:spPr>
          <a:xfrm>
            <a:off x="4362450" y="952500"/>
            <a:ext cx="316230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5"/>
          <p:cNvSpPr/>
          <p:nvPr/>
        </p:nvSpPr>
        <p:spPr>
          <a:xfrm>
            <a:off x="7600950" y="952500"/>
            <a:ext cx="3162300" cy="762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5"/>
          <p:cNvSpPr/>
          <p:nvPr/>
        </p:nvSpPr>
        <p:spPr>
          <a:xfrm>
            <a:off x="10839450" y="952500"/>
            <a:ext cx="15811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5"/>
          <p:cNvSpPr/>
          <p:nvPr/>
        </p:nvSpPr>
        <p:spPr>
          <a:xfrm>
            <a:off x="12496800" y="952500"/>
            <a:ext cx="47434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5"/>
          <p:cNvSpPr/>
          <p:nvPr/>
        </p:nvSpPr>
        <p:spPr>
          <a:xfrm>
            <a:off x="1047750" y="12192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Font typeface="IBM Plex Mono"/>
              <a:buNone/>
            </a:pPr>
            <a:r>
              <a:rPr b="0" i="0" lang="en-US" spc="72" sz="18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Etapas 05–06 /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5"/>
          <p:cNvSpPr/>
          <p:nvPr/>
        </p:nvSpPr>
        <p:spPr>
          <a:xfrm>
            <a:off x="1047750" y="5429250"/>
            <a:ext cx="1781175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6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0"/>
              <a:buFont typeface="IBM Plex Serif"/>
              <a:buNone/>
            </a:pPr>
            <a:r>
              <a:rPr b="1" i="0" lang="en-US" spc="-720" sz="180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05–06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1047750" y="8012430"/>
            <a:ext cx="57912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5"/>
          <p:cNvSpPr/>
          <p:nvPr/>
        </p:nvSpPr>
        <p:spPr>
          <a:xfrm>
            <a:off x="1893570" y="7753350"/>
            <a:ext cx="10317587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346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5700"/>
              <a:buFont typeface="IBM Plex Serif"/>
              <a:buNone/>
            </a:pPr>
            <a:r>
              <a:rPr b="1" i="0" lang="en-US" spc="-85" sz="57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Visualização dos resultados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1047750" y="8983980"/>
            <a:ext cx="57912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5"/>
          <p:cNvSpPr/>
          <p:nvPr/>
        </p:nvSpPr>
        <p:spPr>
          <a:xfrm>
            <a:off x="1893570" y="8724900"/>
            <a:ext cx="9875699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346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5700"/>
              <a:buFont typeface="IBM Plex Serif"/>
              <a:buNone/>
            </a:pPr>
            <a:r>
              <a:rPr b="1" i="0" lang="en-US" spc="-85" sz="57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Enriquecimento funcional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6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· Enriquecimento funcional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6"/>
          <p:cNvSpPr/>
          <p:nvPr/>
        </p:nvSpPr>
        <p:spPr>
          <a:xfrm>
            <a:off x="1047750" y="1402080"/>
            <a:ext cx="17811750" cy="967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Anotação funcional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6"/>
          <p:cNvSpPr/>
          <p:nvPr/>
        </p:nvSpPr>
        <p:spPr>
          <a:xfrm>
            <a:off x="1047750" y="2750820"/>
            <a:ext cx="4753332" cy="316230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6"/>
          <p:cNvSpPr/>
          <p:nvPr/>
        </p:nvSpPr>
        <p:spPr>
          <a:xfrm>
            <a:off x="1047750" y="2750820"/>
            <a:ext cx="4753332" cy="762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6"/>
          <p:cNvSpPr/>
          <p:nvPr/>
        </p:nvSpPr>
        <p:spPr>
          <a:xfrm>
            <a:off x="1352550" y="3093720"/>
            <a:ext cx="455810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6"/>
          <p:cNvSpPr/>
          <p:nvPr/>
        </p:nvSpPr>
        <p:spPr>
          <a:xfrm>
            <a:off x="1352550" y="3615690"/>
            <a:ext cx="455810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 identificado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6"/>
          <p:cNvSpPr/>
          <p:nvPr/>
        </p:nvSpPr>
        <p:spPr>
          <a:xfrm>
            <a:off x="1352550" y="4175760"/>
            <a:ext cx="455810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Sequência predita, atribuída um 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6"/>
          <p:cNvSpPr/>
          <p:nvPr/>
        </p:nvSpPr>
        <p:spPr>
          <a:xfrm>
            <a:off x="1352550" y="5204460"/>
            <a:ext cx="1257300" cy="44196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6"/>
          <p:cNvSpPr/>
          <p:nvPr/>
        </p:nvSpPr>
        <p:spPr>
          <a:xfrm>
            <a:off x="1501140" y="527685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Ensembl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6"/>
          <p:cNvSpPr/>
          <p:nvPr/>
        </p:nvSpPr>
        <p:spPr>
          <a:xfrm>
            <a:off x="2705100" y="5204460"/>
            <a:ext cx="1120140" cy="44196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6"/>
          <p:cNvSpPr/>
          <p:nvPr/>
        </p:nvSpPr>
        <p:spPr>
          <a:xfrm>
            <a:off x="2853690" y="5276850"/>
            <a:ext cx="89916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RefSeq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6"/>
          <p:cNvSpPr/>
          <p:nvPr/>
        </p:nvSpPr>
        <p:spPr>
          <a:xfrm>
            <a:off x="3920490" y="5204460"/>
            <a:ext cx="1257300" cy="44196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6"/>
          <p:cNvSpPr/>
          <p:nvPr/>
        </p:nvSpPr>
        <p:spPr>
          <a:xfrm>
            <a:off x="4069080" y="527685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UniProt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6"/>
          <p:cNvSpPr/>
          <p:nvPr/>
        </p:nvSpPr>
        <p:spPr>
          <a:xfrm>
            <a:off x="5762983" y="4030980"/>
            <a:ext cx="685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6"/>
          <p:cNvSpPr/>
          <p:nvPr/>
        </p:nvSpPr>
        <p:spPr>
          <a:xfrm>
            <a:off x="6410683" y="2750820"/>
            <a:ext cx="4753451" cy="316230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6"/>
          <p:cNvSpPr/>
          <p:nvPr/>
        </p:nvSpPr>
        <p:spPr>
          <a:xfrm>
            <a:off x="6410683" y="2750820"/>
            <a:ext cx="4753451" cy="762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6"/>
          <p:cNvSpPr/>
          <p:nvPr/>
        </p:nvSpPr>
        <p:spPr>
          <a:xfrm>
            <a:off x="6715483" y="3093720"/>
            <a:ext cx="4558237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6715483" y="3615690"/>
            <a:ext cx="4558237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Reunir evidências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6"/>
          <p:cNvSpPr/>
          <p:nvPr/>
        </p:nvSpPr>
        <p:spPr>
          <a:xfrm>
            <a:off x="6715483" y="4175760"/>
            <a:ext cx="455823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Experimentos publicados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6"/>
          <p:cNvSpPr/>
          <p:nvPr/>
        </p:nvSpPr>
        <p:spPr>
          <a:xfrm>
            <a:off x="11126034" y="4030980"/>
            <a:ext cx="685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6"/>
          <p:cNvSpPr/>
          <p:nvPr/>
        </p:nvSpPr>
        <p:spPr>
          <a:xfrm>
            <a:off x="11773734" y="2750820"/>
            <a:ext cx="5466398" cy="316230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6"/>
          <p:cNvSpPr/>
          <p:nvPr/>
        </p:nvSpPr>
        <p:spPr>
          <a:xfrm>
            <a:off x="11773734" y="2750820"/>
            <a:ext cx="5466398" cy="762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6"/>
          <p:cNvSpPr/>
          <p:nvPr/>
        </p:nvSpPr>
        <p:spPr>
          <a:xfrm>
            <a:off x="12078534" y="3093720"/>
            <a:ext cx="5342477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6"/>
          <p:cNvSpPr/>
          <p:nvPr/>
        </p:nvSpPr>
        <p:spPr>
          <a:xfrm>
            <a:off x="12078534" y="3615690"/>
            <a:ext cx="5342477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Curadoria pelos consórcios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6"/>
          <p:cNvSpPr/>
          <p:nvPr/>
        </p:nvSpPr>
        <p:spPr>
          <a:xfrm>
            <a:off x="12078534" y="4175760"/>
            <a:ext cx="534247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ESPECIALISTAS CRIAM BANCOS DE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12078534" y="4667250"/>
            <a:ext cx="2080260" cy="44196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6"/>
          <p:cNvSpPr/>
          <p:nvPr/>
        </p:nvSpPr>
        <p:spPr>
          <a:xfrm>
            <a:off x="12227124" y="4739640"/>
            <a:ext cx="18592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GO Consortium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6"/>
          <p:cNvSpPr/>
          <p:nvPr/>
        </p:nvSpPr>
        <p:spPr>
          <a:xfrm>
            <a:off x="14254044" y="4667250"/>
            <a:ext cx="1805940" cy="44196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6"/>
          <p:cNvSpPr/>
          <p:nvPr/>
        </p:nvSpPr>
        <p:spPr>
          <a:xfrm>
            <a:off x="14402634" y="4739640"/>
            <a:ext cx="158496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UniProt-GOA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6"/>
          <p:cNvSpPr/>
          <p:nvPr/>
        </p:nvSpPr>
        <p:spPr>
          <a:xfrm>
            <a:off x="12078534" y="5204460"/>
            <a:ext cx="845820" cy="44196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6"/>
          <p:cNvSpPr/>
          <p:nvPr/>
        </p:nvSpPr>
        <p:spPr>
          <a:xfrm>
            <a:off x="12227124" y="5276850"/>
            <a:ext cx="624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KEGG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6"/>
          <p:cNvSpPr/>
          <p:nvPr/>
        </p:nvSpPr>
        <p:spPr>
          <a:xfrm>
            <a:off x="13019604" y="5204460"/>
            <a:ext cx="3040380" cy="44196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6"/>
          <p:cNvSpPr/>
          <p:nvPr/>
        </p:nvSpPr>
        <p:spPr>
          <a:xfrm>
            <a:off x="13168194" y="5276850"/>
            <a:ext cx="2834412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FlyBase · MGI · TAIR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6"/>
          <p:cNvSpPr/>
          <p:nvPr/>
        </p:nvSpPr>
        <p:spPr>
          <a:xfrm>
            <a:off x="1047750" y="6179820"/>
            <a:ext cx="3276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1489710" y="6240780"/>
            <a:ext cx="2866644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Termos padronizados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4286250" y="6379845"/>
            <a:ext cx="12954000" cy="1905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6"/>
          <p:cNvSpPr/>
          <p:nvPr/>
        </p:nvSpPr>
        <p:spPr>
          <a:xfrm>
            <a:off x="1047750" y="6789420"/>
            <a:ext cx="3905250" cy="2284095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6"/>
          <p:cNvSpPr/>
          <p:nvPr/>
        </p:nvSpPr>
        <p:spPr>
          <a:xfrm>
            <a:off x="1333500" y="7037070"/>
            <a:ext cx="366712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GO · BP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6"/>
          <p:cNvSpPr/>
          <p:nvPr/>
        </p:nvSpPr>
        <p:spPr>
          <a:xfrm>
            <a:off x="1333500" y="7410450"/>
            <a:ext cx="3667125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Processo Biológico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6"/>
          <p:cNvSpPr/>
          <p:nvPr/>
        </p:nvSpPr>
        <p:spPr>
          <a:xfrm>
            <a:off x="1333500" y="7859078"/>
            <a:ext cx="3433763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ex.: apoptose, crescimento, resposta imune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6"/>
          <p:cNvSpPr/>
          <p:nvPr/>
        </p:nvSpPr>
        <p:spPr>
          <a:xfrm>
            <a:off x="5143500" y="6789420"/>
            <a:ext cx="3905250" cy="2284095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6"/>
          <p:cNvSpPr/>
          <p:nvPr/>
        </p:nvSpPr>
        <p:spPr>
          <a:xfrm>
            <a:off x="5429250" y="7037070"/>
            <a:ext cx="366712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GO · MF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6"/>
          <p:cNvSpPr/>
          <p:nvPr/>
        </p:nvSpPr>
        <p:spPr>
          <a:xfrm>
            <a:off x="5429250" y="7410450"/>
            <a:ext cx="3667125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Função Molecular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6"/>
          <p:cNvSpPr/>
          <p:nvPr/>
        </p:nvSpPr>
        <p:spPr>
          <a:xfrm>
            <a:off x="5429250" y="7859078"/>
            <a:ext cx="3433763" cy="929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ex.: atividade de quinase, ligação ao DNA, transportador de íons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6"/>
          <p:cNvSpPr/>
          <p:nvPr/>
        </p:nvSpPr>
        <p:spPr>
          <a:xfrm>
            <a:off x="9239250" y="6789420"/>
            <a:ext cx="3905250" cy="2284095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6"/>
          <p:cNvSpPr/>
          <p:nvPr/>
        </p:nvSpPr>
        <p:spPr>
          <a:xfrm>
            <a:off x="9525000" y="7037070"/>
            <a:ext cx="366712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GO · CC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6"/>
          <p:cNvSpPr/>
          <p:nvPr/>
        </p:nvSpPr>
        <p:spPr>
          <a:xfrm>
            <a:off x="9525000" y="7410450"/>
            <a:ext cx="3667125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Componente Celular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6"/>
          <p:cNvSpPr/>
          <p:nvPr/>
        </p:nvSpPr>
        <p:spPr>
          <a:xfrm>
            <a:off x="9525000" y="7859078"/>
            <a:ext cx="3433763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ex.: mitocôndria, REL, extracelular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6"/>
          <p:cNvSpPr/>
          <p:nvPr/>
        </p:nvSpPr>
        <p:spPr>
          <a:xfrm>
            <a:off x="13335000" y="6789420"/>
            <a:ext cx="3905250" cy="2284095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6"/>
          <p:cNvSpPr/>
          <p:nvPr/>
        </p:nvSpPr>
        <p:spPr>
          <a:xfrm>
            <a:off x="13620750" y="7037070"/>
            <a:ext cx="366712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KEGG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6"/>
          <p:cNvSpPr/>
          <p:nvPr/>
        </p:nvSpPr>
        <p:spPr>
          <a:xfrm>
            <a:off x="13620750" y="7410450"/>
            <a:ext cx="3433763" cy="7829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Via metabólica ou de sinalização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6"/>
          <p:cNvSpPr/>
          <p:nvPr/>
        </p:nvSpPr>
        <p:spPr>
          <a:xfrm>
            <a:off x="13620750" y="8231505"/>
            <a:ext cx="3433763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ex.: glicogenólise, ciclo de Krebs, tradução de RNAs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6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6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24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7"/>
          <p:cNvSpPr/>
          <p:nvPr/>
        </p:nvSpPr>
        <p:spPr>
          <a:xfrm>
            <a:off x="104775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7"/>
          <p:cNvSpPr/>
          <p:nvPr/>
        </p:nvSpPr>
        <p:spPr>
          <a:xfrm>
            <a:off x="270510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7"/>
          <p:cNvSpPr/>
          <p:nvPr/>
        </p:nvSpPr>
        <p:spPr>
          <a:xfrm>
            <a:off x="4362450" y="952500"/>
            <a:ext cx="316230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7"/>
          <p:cNvSpPr/>
          <p:nvPr/>
        </p:nvSpPr>
        <p:spPr>
          <a:xfrm>
            <a:off x="7600950" y="952500"/>
            <a:ext cx="316230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7"/>
          <p:cNvSpPr/>
          <p:nvPr/>
        </p:nvSpPr>
        <p:spPr>
          <a:xfrm>
            <a:off x="10839450" y="952500"/>
            <a:ext cx="1581150" cy="762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7"/>
          <p:cNvSpPr/>
          <p:nvPr/>
        </p:nvSpPr>
        <p:spPr>
          <a:xfrm>
            <a:off x="12496800" y="952500"/>
            <a:ext cx="4743450" cy="76200"/>
          </a:xfrm>
          <a:prstGeom prst="rect">
            <a:avLst/>
          </a:prstGeom>
          <a:solidFill>
            <a:srgbClr val="FAF8F5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7"/>
          <p:cNvSpPr/>
          <p:nvPr/>
        </p:nvSpPr>
        <p:spPr>
          <a:xfrm>
            <a:off x="1047750" y="12192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Font typeface="IBM Plex Mono"/>
              <a:buNone/>
            </a:pPr>
            <a:r>
              <a:rPr b="0" i="0" lang="en-US" spc="72" sz="18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Etapa 07 /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7"/>
          <p:cNvSpPr/>
          <p:nvPr/>
        </p:nvSpPr>
        <p:spPr>
          <a:xfrm>
            <a:off x="1047750" y="5126117"/>
            <a:ext cx="17811750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i="0" lang="en-US" spc="-840" sz="210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07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1047750" y="7659767"/>
            <a:ext cx="14716125" cy="1903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i="0" lang="en-US" spc="-108" sz="72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Alinhamento transcriptoma x genoma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8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· Genomas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8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Tecnologias de sequenciamento de genomas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8"/>
          <p:cNvSpPr/>
          <p:nvPr/>
        </p:nvSpPr>
        <p:spPr>
          <a:xfrm>
            <a:off x="1047750" y="236827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8"/>
          <p:cNvSpPr/>
          <p:nvPr/>
        </p:nvSpPr>
        <p:spPr>
          <a:xfrm>
            <a:off x="1047750" y="455140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3" name="Google Shape;8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783562"/>
            <a:ext cx="2116574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28"/>
          <p:cNvSpPr/>
          <p:nvPr/>
        </p:nvSpPr>
        <p:spPr>
          <a:xfrm>
            <a:off x="1047750" y="3488412"/>
            <a:ext cx="4905375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Síntese com nucleotídeos fluorescentes em clusters na flowcell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8"/>
          <p:cNvSpPr/>
          <p:nvPr/>
        </p:nvSpPr>
        <p:spPr>
          <a:xfrm>
            <a:off x="6572250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8"/>
          <p:cNvSpPr/>
          <p:nvPr/>
        </p:nvSpPr>
        <p:spPr>
          <a:xfrm>
            <a:off x="7116246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8"/>
          <p:cNvSpPr/>
          <p:nvPr/>
        </p:nvSpPr>
        <p:spPr>
          <a:xfrm>
            <a:off x="7772400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8"/>
          <p:cNvSpPr/>
          <p:nvPr/>
        </p:nvSpPr>
        <p:spPr>
          <a:xfrm>
            <a:off x="8449746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8"/>
          <p:cNvSpPr/>
          <p:nvPr/>
        </p:nvSpPr>
        <p:spPr>
          <a:xfrm>
            <a:off x="9043988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8"/>
          <p:cNvSpPr/>
          <p:nvPr/>
        </p:nvSpPr>
        <p:spPr>
          <a:xfrm>
            <a:off x="9701093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8"/>
          <p:cNvSpPr/>
          <p:nvPr/>
        </p:nvSpPr>
        <p:spPr>
          <a:xfrm>
            <a:off x="10261163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8"/>
          <p:cNvSpPr/>
          <p:nvPr/>
        </p:nvSpPr>
        <p:spPr>
          <a:xfrm>
            <a:off x="10845760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8"/>
          <p:cNvSpPr/>
          <p:nvPr/>
        </p:nvSpPr>
        <p:spPr>
          <a:xfrm>
            <a:off x="11457027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8"/>
          <p:cNvSpPr/>
          <p:nvPr/>
        </p:nvSpPr>
        <p:spPr>
          <a:xfrm>
            <a:off x="12068295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8"/>
          <p:cNvSpPr/>
          <p:nvPr/>
        </p:nvSpPr>
        <p:spPr>
          <a:xfrm>
            <a:off x="12727663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8"/>
          <p:cNvSpPr/>
          <p:nvPr/>
        </p:nvSpPr>
        <p:spPr>
          <a:xfrm>
            <a:off x="13428464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8"/>
          <p:cNvSpPr/>
          <p:nvPr/>
        </p:nvSpPr>
        <p:spPr>
          <a:xfrm>
            <a:off x="14073903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8"/>
          <p:cNvSpPr/>
          <p:nvPr/>
        </p:nvSpPr>
        <p:spPr>
          <a:xfrm>
            <a:off x="14644688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8"/>
          <p:cNvSpPr/>
          <p:nvPr/>
        </p:nvSpPr>
        <p:spPr>
          <a:xfrm>
            <a:off x="15218569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8"/>
          <p:cNvSpPr/>
          <p:nvPr/>
        </p:nvSpPr>
        <p:spPr>
          <a:xfrm>
            <a:off x="15807453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8"/>
          <p:cNvSpPr/>
          <p:nvPr/>
        </p:nvSpPr>
        <p:spPr>
          <a:xfrm>
            <a:off x="16462534" y="28540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8"/>
          <p:cNvSpPr/>
          <p:nvPr/>
        </p:nvSpPr>
        <p:spPr>
          <a:xfrm>
            <a:off x="6572250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8"/>
          <p:cNvSpPr/>
          <p:nvPr/>
        </p:nvSpPr>
        <p:spPr>
          <a:xfrm>
            <a:off x="7122676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8"/>
          <p:cNvSpPr/>
          <p:nvPr/>
        </p:nvSpPr>
        <p:spPr>
          <a:xfrm>
            <a:off x="7823597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8"/>
          <p:cNvSpPr/>
          <p:nvPr/>
        </p:nvSpPr>
        <p:spPr>
          <a:xfrm>
            <a:off x="8424148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8"/>
          <p:cNvSpPr/>
          <p:nvPr/>
        </p:nvSpPr>
        <p:spPr>
          <a:xfrm>
            <a:off x="8983146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8"/>
          <p:cNvSpPr/>
          <p:nvPr/>
        </p:nvSpPr>
        <p:spPr>
          <a:xfrm>
            <a:off x="9601914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8"/>
          <p:cNvSpPr/>
          <p:nvPr/>
        </p:nvSpPr>
        <p:spPr>
          <a:xfrm>
            <a:off x="10307002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8"/>
          <p:cNvSpPr/>
          <p:nvPr/>
        </p:nvSpPr>
        <p:spPr>
          <a:xfrm>
            <a:off x="10962084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8"/>
          <p:cNvSpPr/>
          <p:nvPr/>
        </p:nvSpPr>
        <p:spPr>
          <a:xfrm>
            <a:off x="11545610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8"/>
          <p:cNvSpPr/>
          <p:nvPr/>
        </p:nvSpPr>
        <p:spPr>
          <a:xfrm>
            <a:off x="12198548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8"/>
          <p:cNvSpPr/>
          <p:nvPr/>
        </p:nvSpPr>
        <p:spPr>
          <a:xfrm>
            <a:off x="12820412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8"/>
          <p:cNvSpPr/>
          <p:nvPr/>
        </p:nvSpPr>
        <p:spPr>
          <a:xfrm>
            <a:off x="13410366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8"/>
          <p:cNvSpPr/>
          <p:nvPr/>
        </p:nvSpPr>
        <p:spPr>
          <a:xfrm>
            <a:off x="13968294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8"/>
          <p:cNvSpPr/>
          <p:nvPr/>
        </p:nvSpPr>
        <p:spPr>
          <a:xfrm>
            <a:off x="14598848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8"/>
          <p:cNvSpPr/>
          <p:nvPr/>
        </p:nvSpPr>
        <p:spPr>
          <a:xfrm>
            <a:off x="15236785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8"/>
          <p:cNvSpPr/>
          <p:nvPr/>
        </p:nvSpPr>
        <p:spPr>
          <a:xfrm>
            <a:off x="15919490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8"/>
          <p:cNvSpPr/>
          <p:nvPr/>
        </p:nvSpPr>
        <p:spPr>
          <a:xfrm>
            <a:off x="16516945" y="310169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8"/>
          <p:cNvSpPr/>
          <p:nvPr/>
        </p:nvSpPr>
        <p:spPr>
          <a:xfrm>
            <a:off x="6572250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8"/>
          <p:cNvSpPr/>
          <p:nvPr/>
        </p:nvSpPr>
        <p:spPr>
          <a:xfrm>
            <a:off x="7232571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8"/>
          <p:cNvSpPr/>
          <p:nvPr/>
        </p:nvSpPr>
        <p:spPr>
          <a:xfrm>
            <a:off x="7885390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8"/>
          <p:cNvSpPr/>
          <p:nvPr/>
        </p:nvSpPr>
        <p:spPr>
          <a:xfrm>
            <a:off x="8458319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8"/>
          <p:cNvSpPr/>
          <p:nvPr/>
        </p:nvSpPr>
        <p:spPr>
          <a:xfrm>
            <a:off x="9135666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8"/>
          <p:cNvSpPr/>
          <p:nvPr/>
        </p:nvSpPr>
        <p:spPr>
          <a:xfrm>
            <a:off x="9843017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8"/>
          <p:cNvSpPr/>
          <p:nvPr/>
        </p:nvSpPr>
        <p:spPr>
          <a:xfrm>
            <a:off x="10527863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8"/>
          <p:cNvSpPr/>
          <p:nvPr/>
        </p:nvSpPr>
        <p:spPr>
          <a:xfrm>
            <a:off x="11111389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8"/>
          <p:cNvSpPr/>
          <p:nvPr/>
        </p:nvSpPr>
        <p:spPr>
          <a:xfrm>
            <a:off x="11811238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8"/>
          <p:cNvSpPr/>
          <p:nvPr/>
        </p:nvSpPr>
        <p:spPr>
          <a:xfrm>
            <a:off x="12460963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8"/>
          <p:cNvSpPr/>
          <p:nvPr/>
        </p:nvSpPr>
        <p:spPr>
          <a:xfrm>
            <a:off x="13135095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8"/>
          <p:cNvSpPr/>
          <p:nvPr/>
        </p:nvSpPr>
        <p:spPr>
          <a:xfrm>
            <a:off x="13722905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8"/>
          <p:cNvSpPr/>
          <p:nvPr/>
        </p:nvSpPr>
        <p:spPr>
          <a:xfrm>
            <a:off x="14330006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8"/>
          <p:cNvSpPr/>
          <p:nvPr/>
        </p:nvSpPr>
        <p:spPr>
          <a:xfrm>
            <a:off x="14900672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8"/>
          <p:cNvSpPr/>
          <p:nvPr/>
        </p:nvSpPr>
        <p:spPr>
          <a:xfrm>
            <a:off x="15517297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8"/>
          <p:cNvSpPr/>
          <p:nvPr/>
        </p:nvSpPr>
        <p:spPr>
          <a:xfrm>
            <a:off x="16123205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8"/>
          <p:cNvSpPr/>
          <p:nvPr/>
        </p:nvSpPr>
        <p:spPr>
          <a:xfrm>
            <a:off x="16698277" y="3349347"/>
            <a:ext cx="448032" cy="133350"/>
          </a:xfrm>
          <a:prstGeom prst="roundRect">
            <a:avLst>
              <a:gd fmla="val 50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8"/>
          <p:cNvSpPr/>
          <p:nvPr/>
        </p:nvSpPr>
        <p:spPr>
          <a:xfrm>
            <a:off x="6572250" y="3768447"/>
            <a:ext cx="987862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tamanho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8"/>
          <p:cNvSpPr/>
          <p:nvPr/>
        </p:nvSpPr>
        <p:spPr>
          <a:xfrm>
            <a:off x="7598212" y="3730347"/>
            <a:ext cx="176022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2 × 150 pb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8"/>
          <p:cNvSpPr/>
          <p:nvPr/>
        </p:nvSpPr>
        <p:spPr>
          <a:xfrm>
            <a:off x="9655612" y="3768447"/>
            <a:ext cx="9423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acurácia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8"/>
          <p:cNvSpPr/>
          <p:nvPr/>
        </p:nvSpPr>
        <p:spPr>
          <a:xfrm>
            <a:off x="10636091" y="3730347"/>
            <a:ext cx="103632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~99,9%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8"/>
          <p:cNvSpPr/>
          <p:nvPr/>
        </p:nvSpPr>
        <p:spPr>
          <a:xfrm>
            <a:off x="12053412" y="3768447"/>
            <a:ext cx="187822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qualidade média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8"/>
          <p:cNvSpPr/>
          <p:nvPr/>
        </p:nvSpPr>
        <p:spPr>
          <a:xfrm>
            <a:off x="13875187" y="3730347"/>
            <a:ext cx="7162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Q30+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8"/>
          <p:cNvSpPr/>
          <p:nvPr/>
        </p:nvSpPr>
        <p:spPr>
          <a:xfrm>
            <a:off x="1047750" y="667738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3" name="Google Shape;90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966692"/>
            <a:ext cx="1993463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28"/>
          <p:cNvSpPr/>
          <p:nvPr/>
        </p:nvSpPr>
        <p:spPr>
          <a:xfrm>
            <a:off x="3288863" y="5061942"/>
            <a:ext cx="7092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586"/>
              </a:lnSpc>
              <a:spcBef>
                <a:spcPts val="0"/>
              </a:spcBef>
              <a:spcAft>
                <a:spcPts val="0"/>
              </a:spcAft>
              <a:buClr>
                <a:srgbClr val="D4157A"/>
              </a:buClr>
              <a:buSzPts val="2700"/>
              <a:buFont typeface="IBM Plex Sans"/>
              <a:buNone/>
            </a:pPr>
            <a:r>
              <a:rPr b="1" i="0" lang="en-US" sz="2700" u="none" cap="none" strike="noStrike">
                <a:solidFill>
                  <a:srgbClr val="D4157A"/>
                </a:solidFill>
                <a:latin typeface="IBM Plex Sans"/>
                <a:ea typeface="IBM Plex Sans"/>
                <a:cs typeface="IBM Plex Sans"/>
                <a:sym typeface="IBM Plex Sans"/>
              </a:rPr>
              <a:t>HiFi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8"/>
          <p:cNvSpPr/>
          <p:nvPr/>
        </p:nvSpPr>
        <p:spPr>
          <a:xfrm>
            <a:off x="1047750" y="5614392"/>
            <a:ext cx="4905375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Leitura circular de uma única molécula, repetida até gerar consenso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8"/>
          <p:cNvSpPr/>
          <p:nvPr/>
        </p:nvSpPr>
        <p:spPr>
          <a:xfrm>
            <a:off x="6572250" y="5008602"/>
            <a:ext cx="138684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8"/>
          <p:cNvSpPr/>
          <p:nvPr/>
        </p:nvSpPr>
        <p:spPr>
          <a:xfrm>
            <a:off x="8195906" y="5008602"/>
            <a:ext cx="160020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8"/>
          <p:cNvSpPr/>
          <p:nvPr/>
        </p:nvSpPr>
        <p:spPr>
          <a:xfrm>
            <a:off x="10175796" y="5008602"/>
            <a:ext cx="128016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8"/>
          <p:cNvSpPr/>
          <p:nvPr/>
        </p:nvSpPr>
        <p:spPr>
          <a:xfrm>
            <a:off x="11713130" y="5008602"/>
            <a:ext cx="149352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8"/>
          <p:cNvSpPr/>
          <p:nvPr/>
        </p:nvSpPr>
        <p:spPr>
          <a:xfrm>
            <a:off x="13601343" y="5008602"/>
            <a:ext cx="138684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8"/>
          <p:cNvSpPr/>
          <p:nvPr/>
        </p:nvSpPr>
        <p:spPr>
          <a:xfrm>
            <a:off x="15277266" y="5008602"/>
            <a:ext cx="160020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8"/>
          <p:cNvSpPr/>
          <p:nvPr/>
        </p:nvSpPr>
        <p:spPr>
          <a:xfrm>
            <a:off x="6572250" y="5256252"/>
            <a:ext cx="149352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8"/>
          <p:cNvSpPr/>
          <p:nvPr/>
        </p:nvSpPr>
        <p:spPr>
          <a:xfrm>
            <a:off x="8252460" y="5256252"/>
            <a:ext cx="128016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8"/>
          <p:cNvSpPr/>
          <p:nvPr/>
        </p:nvSpPr>
        <p:spPr>
          <a:xfrm>
            <a:off x="9904929" y="5256252"/>
            <a:ext cx="160020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8"/>
          <p:cNvSpPr/>
          <p:nvPr/>
        </p:nvSpPr>
        <p:spPr>
          <a:xfrm>
            <a:off x="11898749" y="5256252"/>
            <a:ext cx="138684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8"/>
          <p:cNvSpPr/>
          <p:nvPr/>
        </p:nvSpPr>
        <p:spPr>
          <a:xfrm>
            <a:off x="13514904" y="5256252"/>
            <a:ext cx="149352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8"/>
          <p:cNvSpPr/>
          <p:nvPr/>
        </p:nvSpPr>
        <p:spPr>
          <a:xfrm>
            <a:off x="15371207" y="5256252"/>
            <a:ext cx="128016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8"/>
          <p:cNvSpPr/>
          <p:nvPr/>
        </p:nvSpPr>
        <p:spPr>
          <a:xfrm>
            <a:off x="6572250" y="5503902"/>
            <a:ext cx="128016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8"/>
          <p:cNvSpPr/>
          <p:nvPr/>
        </p:nvSpPr>
        <p:spPr>
          <a:xfrm>
            <a:off x="8128635" y="5503902"/>
            <a:ext cx="149352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8"/>
          <p:cNvSpPr/>
          <p:nvPr/>
        </p:nvSpPr>
        <p:spPr>
          <a:xfrm>
            <a:off x="9782175" y="5503902"/>
            <a:ext cx="138684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8"/>
          <p:cNvSpPr/>
          <p:nvPr/>
        </p:nvSpPr>
        <p:spPr>
          <a:xfrm>
            <a:off x="11334393" y="5503902"/>
            <a:ext cx="160020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8"/>
          <p:cNvSpPr/>
          <p:nvPr/>
        </p:nvSpPr>
        <p:spPr>
          <a:xfrm>
            <a:off x="13104257" y="5503902"/>
            <a:ext cx="128016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8"/>
          <p:cNvSpPr/>
          <p:nvPr/>
        </p:nvSpPr>
        <p:spPr>
          <a:xfrm>
            <a:off x="14692669" y="5503902"/>
            <a:ext cx="1493520" cy="133350"/>
          </a:xfrm>
          <a:prstGeom prst="roundRect">
            <a:avLst>
              <a:gd fmla="val 50000" name="adj"/>
            </a:avLst>
          </a:prstGeom>
          <a:solidFill>
            <a:srgbClr val="ED68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8"/>
          <p:cNvSpPr/>
          <p:nvPr/>
        </p:nvSpPr>
        <p:spPr>
          <a:xfrm>
            <a:off x="6572250" y="5923002"/>
            <a:ext cx="987862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tamanho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8"/>
          <p:cNvSpPr/>
          <p:nvPr/>
        </p:nvSpPr>
        <p:spPr>
          <a:xfrm>
            <a:off x="7598212" y="5884902"/>
            <a:ext cx="140817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15–25 kb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8"/>
          <p:cNvSpPr/>
          <p:nvPr/>
        </p:nvSpPr>
        <p:spPr>
          <a:xfrm>
            <a:off x="9335571" y="5923002"/>
            <a:ext cx="9423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acurácia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8"/>
          <p:cNvSpPr/>
          <p:nvPr/>
        </p:nvSpPr>
        <p:spPr>
          <a:xfrm>
            <a:off x="10316052" y="5884902"/>
            <a:ext cx="103632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~99,9%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8"/>
          <p:cNvSpPr/>
          <p:nvPr/>
        </p:nvSpPr>
        <p:spPr>
          <a:xfrm>
            <a:off x="11733371" y="5923002"/>
            <a:ext cx="187822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qualidade média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8"/>
          <p:cNvSpPr/>
          <p:nvPr/>
        </p:nvSpPr>
        <p:spPr>
          <a:xfrm>
            <a:off x="13555147" y="5884902"/>
            <a:ext cx="7162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Q30+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8"/>
          <p:cNvSpPr/>
          <p:nvPr/>
        </p:nvSpPr>
        <p:spPr>
          <a:xfrm>
            <a:off x="1047750" y="887956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1" name="Google Shape;93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7092672"/>
            <a:ext cx="2865239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28"/>
          <p:cNvSpPr/>
          <p:nvPr/>
        </p:nvSpPr>
        <p:spPr>
          <a:xfrm>
            <a:off x="1047750" y="7816572"/>
            <a:ext cx="4905375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Corrente elétrica muda conforme o DNA atravessa um poro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8"/>
          <p:cNvSpPr/>
          <p:nvPr/>
        </p:nvSpPr>
        <p:spPr>
          <a:xfrm>
            <a:off x="6572250" y="7172683"/>
            <a:ext cx="4053840" cy="133350"/>
          </a:xfrm>
          <a:prstGeom prst="roundRect">
            <a:avLst>
              <a:gd fmla="val 50000" name="adj"/>
            </a:avLst>
          </a:prstGeom>
          <a:solidFill>
            <a:srgbClr val="339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8"/>
          <p:cNvSpPr/>
          <p:nvPr/>
        </p:nvSpPr>
        <p:spPr>
          <a:xfrm>
            <a:off x="11052810" y="7172683"/>
            <a:ext cx="2346960" cy="133350"/>
          </a:xfrm>
          <a:prstGeom prst="roundRect">
            <a:avLst>
              <a:gd fmla="val 50000" name="adj"/>
            </a:avLst>
          </a:prstGeom>
          <a:solidFill>
            <a:srgbClr val="339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8"/>
          <p:cNvSpPr/>
          <p:nvPr/>
        </p:nvSpPr>
        <p:spPr>
          <a:xfrm>
            <a:off x="13719810" y="7172683"/>
            <a:ext cx="3520440" cy="133350"/>
          </a:xfrm>
          <a:prstGeom prst="roundRect">
            <a:avLst>
              <a:gd fmla="val 50000" name="adj"/>
            </a:avLst>
          </a:prstGeom>
          <a:solidFill>
            <a:srgbClr val="339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8"/>
          <p:cNvSpPr/>
          <p:nvPr/>
        </p:nvSpPr>
        <p:spPr>
          <a:xfrm>
            <a:off x="6572250" y="7420333"/>
            <a:ext cx="6187440" cy="133350"/>
          </a:xfrm>
          <a:prstGeom prst="roundRect">
            <a:avLst>
              <a:gd fmla="val 50000" name="adj"/>
            </a:avLst>
          </a:prstGeom>
          <a:solidFill>
            <a:srgbClr val="339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8"/>
          <p:cNvSpPr/>
          <p:nvPr/>
        </p:nvSpPr>
        <p:spPr>
          <a:xfrm>
            <a:off x="13186410" y="7420333"/>
            <a:ext cx="2773680" cy="133350"/>
          </a:xfrm>
          <a:prstGeom prst="roundRect">
            <a:avLst>
              <a:gd fmla="val 50000" name="adj"/>
            </a:avLst>
          </a:prstGeom>
          <a:solidFill>
            <a:srgbClr val="339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8"/>
          <p:cNvSpPr/>
          <p:nvPr/>
        </p:nvSpPr>
        <p:spPr>
          <a:xfrm>
            <a:off x="6572250" y="7667983"/>
            <a:ext cx="2560320" cy="133350"/>
          </a:xfrm>
          <a:prstGeom prst="roundRect">
            <a:avLst>
              <a:gd fmla="val 50000" name="adj"/>
            </a:avLst>
          </a:prstGeom>
          <a:solidFill>
            <a:srgbClr val="339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8"/>
          <p:cNvSpPr/>
          <p:nvPr/>
        </p:nvSpPr>
        <p:spPr>
          <a:xfrm>
            <a:off x="9559290" y="7667983"/>
            <a:ext cx="7467600" cy="133350"/>
          </a:xfrm>
          <a:prstGeom prst="roundRect">
            <a:avLst>
              <a:gd fmla="val 50000" name="adj"/>
            </a:avLst>
          </a:prstGeom>
          <a:solidFill>
            <a:srgbClr val="339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8"/>
          <p:cNvSpPr/>
          <p:nvPr/>
        </p:nvSpPr>
        <p:spPr>
          <a:xfrm>
            <a:off x="6572250" y="8087083"/>
            <a:ext cx="987862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tamanho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8"/>
          <p:cNvSpPr/>
          <p:nvPr/>
        </p:nvSpPr>
        <p:spPr>
          <a:xfrm>
            <a:off x="7598212" y="8048983"/>
            <a:ext cx="2112264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k a &gt;1 Mb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8"/>
          <p:cNvSpPr/>
          <p:nvPr/>
        </p:nvSpPr>
        <p:spPr>
          <a:xfrm>
            <a:off x="9975652" y="8087083"/>
            <a:ext cx="9423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acurácia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8"/>
          <p:cNvSpPr/>
          <p:nvPr/>
        </p:nvSpPr>
        <p:spPr>
          <a:xfrm>
            <a:off x="10956131" y="8048983"/>
            <a:ext cx="7162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~99%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8"/>
          <p:cNvSpPr/>
          <p:nvPr/>
        </p:nvSpPr>
        <p:spPr>
          <a:xfrm>
            <a:off x="12053412" y="8087083"/>
            <a:ext cx="187822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qualidade média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8"/>
          <p:cNvSpPr/>
          <p:nvPr/>
        </p:nvSpPr>
        <p:spPr>
          <a:xfrm>
            <a:off x="13875187" y="8048983"/>
            <a:ext cx="7162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Q20+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8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8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26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9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· Alinhamento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9"/>
          <p:cNvSpPr/>
          <p:nvPr/>
        </p:nvSpPr>
        <p:spPr>
          <a:xfrm>
            <a:off x="1047750" y="1402080"/>
            <a:ext cx="178117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pc="-76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Alinhar reads contra um genoma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9"/>
          <p:cNvSpPr/>
          <p:nvPr/>
        </p:nvSpPr>
        <p:spPr>
          <a:xfrm>
            <a:off x="1047750" y="236827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9"/>
          <p:cNvSpPr/>
          <p:nvPr/>
        </p:nvSpPr>
        <p:spPr>
          <a:xfrm>
            <a:off x="1047750" y="465427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9"/>
          <p:cNvSpPr/>
          <p:nvPr/>
        </p:nvSpPr>
        <p:spPr>
          <a:xfrm>
            <a:off x="1047750" y="2764512"/>
            <a:ext cx="5867400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21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1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Não “splice-aware”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9"/>
          <p:cNvSpPr/>
          <p:nvPr/>
        </p:nvSpPr>
        <p:spPr>
          <a:xfrm>
            <a:off x="1047750" y="3358872"/>
            <a:ext cx="58674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BWA · Bowtie2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9"/>
          <p:cNvSpPr/>
          <p:nvPr/>
        </p:nvSpPr>
        <p:spPr>
          <a:xfrm>
            <a:off x="1047750" y="3899892"/>
            <a:ext cx="586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Alinhamento contínuo.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9"/>
          <p:cNvSpPr/>
          <p:nvPr/>
        </p:nvSpPr>
        <p:spPr>
          <a:xfrm>
            <a:off x="7143750" y="2975967"/>
            <a:ext cx="10096500" cy="381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9"/>
          <p:cNvSpPr/>
          <p:nvPr/>
        </p:nvSpPr>
        <p:spPr>
          <a:xfrm>
            <a:off x="7143750" y="2861667"/>
            <a:ext cx="262509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9"/>
          <p:cNvSpPr/>
          <p:nvPr/>
        </p:nvSpPr>
        <p:spPr>
          <a:xfrm>
            <a:off x="11788140" y="2861667"/>
            <a:ext cx="201930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9"/>
          <p:cNvSpPr/>
          <p:nvPr/>
        </p:nvSpPr>
        <p:spPr>
          <a:xfrm>
            <a:off x="15624810" y="2861667"/>
            <a:ext cx="161544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9"/>
          <p:cNvSpPr/>
          <p:nvPr/>
        </p:nvSpPr>
        <p:spPr>
          <a:xfrm>
            <a:off x="7446645" y="3452217"/>
            <a:ext cx="121158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9"/>
          <p:cNvSpPr/>
          <p:nvPr/>
        </p:nvSpPr>
        <p:spPr>
          <a:xfrm>
            <a:off x="9163050" y="3452217"/>
            <a:ext cx="60579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9"/>
          <p:cNvSpPr/>
          <p:nvPr/>
        </p:nvSpPr>
        <p:spPr>
          <a:xfrm>
            <a:off x="9768840" y="3452217"/>
            <a:ext cx="605790" cy="152400"/>
          </a:xfrm>
          <a:prstGeom prst="roundRect">
            <a:avLst>
              <a:gd fmla="val 25000" name="adj"/>
            </a:avLst>
          </a:prstGeom>
          <a:noFill/>
          <a:ln cap="flat" cmpd="sng" w="15225">
            <a:solidFill>
              <a:srgbClr val="BF52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9"/>
          <p:cNvSpPr/>
          <p:nvPr/>
        </p:nvSpPr>
        <p:spPr>
          <a:xfrm>
            <a:off x="11990070" y="3452217"/>
            <a:ext cx="121158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9"/>
          <p:cNvSpPr/>
          <p:nvPr/>
        </p:nvSpPr>
        <p:spPr>
          <a:xfrm>
            <a:off x="13403581" y="3452217"/>
            <a:ext cx="40386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9"/>
          <p:cNvSpPr/>
          <p:nvPr/>
        </p:nvSpPr>
        <p:spPr>
          <a:xfrm>
            <a:off x="13807440" y="3452217"/>
            <a:ext cx="605790" cy="152400"/>
          </a:xfrm>
          <a:prstGeom prst="roundRect">
            <a:avLst>
              <a:gd fmla="val 25000" name="adj"/>
            </a:avLst>
          </a:prstGeom>
          <a:noFill/>
          <a:ln cap="flat" cmpd="sng" w="15225">
            <a:solidFill>
              <a:srgbClr val="BF52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9"/>
          <p:cNvSpPr/>
          <p:nvPr/>
        </p:nvSpPr>
        <p:spPr>
          <a:xfrm>
            <a:off x="8153400" y="3737967"/>
            <a:ext cx="121158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9"/>
          <p:cNvSpPr/>
          <p:nvPr/>
        </p:nvSpPr>
        <p:spPr>
          <a:xfrm>
            <a:off x="11182350" y="3737967"/>
            <a:ext cx="605790" cy="152400"/>
          </a:xfrm>
          <a:prstGeom prst="roundRect">
            <a:avLst>
              <a:gd fmla="val 25000" name="adj"/>
            </a:avLst>
          </a:prstGeom>
          <a:noFill/>
          <a:ln cap="flat" cmpd="sng" w="15225">
            <a:solidFill>
              <a:srgbClr val="BF52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9"/>
          <p:cNvSpPr/>
          <p:nvPr/>
        </p:nvSpPr>
        <p:spPr>
          <a:xfrm>
            <a:off x="11788140" y="3737967"/>
            <a:ext cx="60579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9"/>
          <p:cNvSpPr/>
          <p:nvPr/>
        </p:nvSpPr>
        <p:spPr>
          <a:xfrm>
            <a:off x="15826740" y="3737967"/>
            <a:ext cx="121158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9"/>
          <p:cNvSpPr/>
          <p:nvPr/>
        </p:nvSpPr>
        <p:spPr>
          <a:xfrm>
            <a:off x="8557260" y="4023717"/>
            <a:ext cx="121158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9"/>
          <p:cNvSpPr/>
          <p:nvPr/>
        </p:nvSpPr>
        <p:spPr>
          <a:xfrm>
            <a:off x="12595860" y="4023717"/>
            <a:ext cx="121158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9"/>
          <p:cNvSpPr/>
          <p:nvPr/>
        </p:nvSpPr>
        <p:spPr>
          <a:xfrm>
            <a:off x="15019020" y="4023717"/>
            <a:ext cx="605790" cy="152400"/>
          </a:xfrm>
          <a:prstGeom prst="roundRect">
            <a:avLst>
              <a:gd fmla="val 25000" name="adj"/>
            </a:avLst>
          </a:prstGeom>
          <a:noFill/>
          <a:ln cap="flat" cmpd="sng" w="15225">
            <a:solidFill>
              <a:srgbClr val="BF52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9"/>
          <p:cNvSpPr/>
          <p:nvPr/>
        </p:nvSpPr>
        <p:spPr>
          <a:xfrm>
            <a:off x="15624810" y="4023717"/>
            <a:ext cx="60579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9"/>
          <p:cNvSpPr/>
          <p:nvPr/>
        </p:nvSpPr>
        <p:spPr>
          <a:xfrm>
            <a:off x="1047750" y="7313652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9"/>
          <p:cNvSpPr/>
          <p:nvPr/>
        </p:nvSpPr>
        <p:spPr>
          <a:xfrm>
            <a:off x="1047750" y="5050512"/>
            <a:ext cx="5867400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21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1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Splice-aware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9"/>
          <p:cNvSpPr/>
          <p:nvPr/>
        </p:nvSpPr>
        <p:spPr>
          <a:xfrm>
            <a:off x="1047750" y="5644872"/>
            <a:ext cx="58674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 · HISAT2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9"/>
          <p:cNvSpPr/>
          <p:nvPr/>
        </p:nvSpPr>
        <p:spPr>
          <a:xfrm>
            <a:off x="1047750" y="6185892"/>
            <a:ext cx="5494020" cy="784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Considera íntrons e divide a read entre dois éxons.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9"/>
          <p:cNvSpPr/>
          <p:nvPr/>
        </p:nvSpPr>
        <p:spPr>
          <a:xfrm>
            <a:off x="7143750" y="5448658"/>
            <a:ext cx="10096500" cy="381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9"/>
          <p:cNvSpPr/>
          <p:nvPr/>
        </p:nvSpPr>
        <p:spPr>
          <a:xfrm>
            <a:off x="7143750" y="5334358"/>
            <a:ext cx="262509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9"/>
          <p:cNvSpPr/>
          <p:nvPr/>
        </p:nvSpPr>
        <p:spPr>
          <a:xfrm>
            <a:off x="11788140" y="5334358"/>
            <a:ext cx="201930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9"/>
          <p:cNvSpPr/>
          <p:nvPr/>
        </p:nvSpPr>
        <p:spPr>
          <a:xfrm>
            <a:off x="15624810" y="5334358"/>
            <a:ext cx="161544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9"/>
          <p:cNvSpPr/>
          <p:nvPr/>
        </p:nvSpPr>
        <p:spPr>
          <a:xfrm>
            <a:off x="7446645" y="5924908"/>
            <a:ext cx="121158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9"/>
          <p:cNvSpPr/>
          <p:nvPr/>
        </p:nvSpPr>
        <p:spPr>
          <a:xfrm>
            <a:off x="9163050" y="5924908"/>
            <a:ext cx="60579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9"/>
          <p:cNvSpPr/>
          <p:nvPr/>
        </p:nvSpPr>
        <p:spPr>
          <a:xfrm>
            <a:off x="9768840" y="5991583"/>
            <a:ext cx="2019300" cy="190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9"/>
          <p:cNvSpPr/>
          <p:nvPr/>
        </p:nvSpPr>
        <p:spPr>
          <a:xfrm>
            <a:off x="11788140" y="5924908"/>
            <a:ext cx="60579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9"/>
          <p:cNvSpPr/>
          <p:nvPr/>
        </p:nvSpPr>
        <p:spPr>
          <a:xfrm>
            <a:off x="12595860" y="5924908"/>
            <a:ext cx="121158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9"/>
          <p:cNvSpPr/>
          <p:nvPr/>
        </p:nvSpPr>
        <p:spPr>
          <a:xfrm>
            <a:off x="8153400" y="6210658"/>
            <a:ext cx="121158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9"/>
          <p:cNvSpPr/>
          <p:nvPr/>
        </p:nvSpPr>
        <p:spPr>
          <a:xfrm>
            <a:off x="13201650" y="6210658"/>
            <a:ext cx="60579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9"/>
          <p:cNvSpPr/>
          <p:nvPr/>
        </p:nvSpPr>
        <p:spPr>
          <a:xfrm>
            <a:off x="13807440" y="6277333"/>
            <a:ext cx="1817370" cy="190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9"/>
          <p:cNvSpPr/>
          <p:nvPr/>
        </p:nvSpPr>
        <p:spPr>
          <a:xfrm>
            <a:off x="15624810" y="6210658"/>
            <a:ext cx="60579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9"/>
          <p:cNvSpPr/>
          <p:nvPr/>
        </p:nvSpPr>
        <p:spPr>
          <a:xfrm>
            <a:off x="9364980" y="6496408"/>
            <a:ext cx="40386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9"/>
          <p:cNvSpPr/>
          <p:nvPr/>
        </p:nvSpPr>
        <p:spPr>
          <a:xfrm>
            <a:off x="9768840" y="6563083"/>
            <a:ext cx="2019300" cy="190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9"/>
          <p:cNvSpPr/>
          <p:nvPr/>
        </p:nvSpPr>
        <p:spPr>
          <a:xfrm>
            <a:off x="11788140" y="6496408"/>
            <a:ext cx="80772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9"/>
          <p:cNvSpPr/>
          <p:nvPr/>
        </p:nvSpPr>
        <p:spPr>
          <a:xfrm>
            <a:off x="13403581" y="6496408"/>
            <a:ext cx="40386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9"/>
          <p:cNvSpPr/>
          <p:nvPr/>
        </p:nvSpPr>
        <p:spPr>
          <a:xfrm>
            <a:off x="13807440" y="6563083"/>
            <a:ext cx="1817370" cy="190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9"/>
          <p:cNvSpPr/>
          <p:nvPr/>
        </p:nvSpPr>
        <p:spPr>
          <a:xfrm>
            <a:off x="15624810" y="6496408"/>
            <a:ext cx="807720" cy="152400"/>
          </a:xfrm>
          <a:prstGeom prst="roundRect">
            <a:avLst>
              <a:gd fmla="val 25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9"/>
          <p:cNvSpPr/>
          <p:nvPr/>
        </p:nvSpPr>
        <p:spPr>
          <a:xfrm>
            <a:off x="1047750" y="8641080"/>
            <a:ext cx="16192500" cy="88392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9"/>
          <p:cNvSpPr/>
          <p:nvPr/>
        </p:nvSpPr>
        <p:spPr>
          <a:xfrm>
            <a:off x="1352550" y="8869680"/>
            <a:ext cx="1709928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Minimap2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9"/>
          <p:cNvSpPr/>
          <p:nvPr/>
        </p:nvSpPr>
        <p:spPr>
          <a:xfrm>
            <a:off x="3173730" y="8930640"/>
            <a:ext cx="521164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 reads longas 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· </a:t>
            </a: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Genoma vs Genoma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9"/>
          <p:cNvSpPr/>
          <p:nvPr/>
        </p:nvSpPr>
        <p:spPr>
          <a:xfrm>
            <a:off x="1047750" y="9704070"/>
            <a:ext cx="497890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Toolbox de Bioinformática · Dia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9"/>
          <p:cNvSpPr/>
          <p:nvPr/>
        </p:nvSpPr>
        <p:spPr>
          <a:xfrm>
            <a:off x="16280131" y="9704070"/>
            <a:ext cx="103632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27 / 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0"/>
          <p:cNvSpPr/>
          <p:nvPr/>
        </p:nvSpPr>
        <p:spPr>
          <a:xfrm>
            <a:off x="104775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0"/>
          <p:cNvSpPr/>
          <p:nvPr/>
        </p:nvSpPr>
        <p:spPr>
          <a:xfrm>
            <a:off x="270510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0"/>
          <p:cNvSpPr/>
          <p:nvPr/>
        </p:nvSpPr>
        <p:spPr>
          <a:xfrm>
            <a:off x="4362450" y="952500"/>
            <a:ext cx="316230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0"/>
          <p:cNvSpPr/>
          <p:nvPr/>
        </p:nvSpPr>
        <p:spPr>
          <a:xfrm>
            <a:off x="7600950" y="952500"/>
            <a:ext cx="316230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0"/>
          <p:cNvSpPr/>
          <p:nvPr/>
        </p:nvSpPr>
        <p:spPr>
          <a:xfrm>
            <a:off x="10839450" y="952500"/>
            <a:ext cx="1581150" cy="76200"/>
          </a:xfrm>
          <a:prstGeom prst="rect">
            <a:avLst/>
          </a:prstGeom>
          <a:solidFill>
            <a:srgbClr val="FAF8F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0"/>
          <p:cNvSpPr/>
          <p:nvPr/>
        </p:nvSpPr>
        <p:spPr>
          <a:xfrm>
            <a:off x="12496800" y="952500"/>
            <a:ext cx="4743450" cy="762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0"/>
          <p:cNvSpPr/>
          <p:nvPr/>
        </p:nvSpPr>
        <p:spPr>
          <a:xfrm>
            <a:off x="1047750" y="12192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Font typeface="IBM Plex Mono"/>
              <a:buNone/>
            </a:pPr>
            <a:r>
              <a:rPr b="0" i="0" lang="en-US" spc="72" sz="18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Etapas 08–10 /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0"/>
          <p:cNvSpPr/>
          <p:nvPr/>
        </p:nvSpPr>
        <p:spPr>
          <a:xfrm>
            <a:off x="1047750" y="4777740"/>
            <a:ext cx="1781175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6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0"/>
              <a:buFont typeface="IBM Plex Serif"/>
              <a:buNone/>
            </a:pPr>
            <a:r>
              <a:rPr b="1" i="0" lang="en-US" spc="-720" sz="180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08–10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0"/>
          <p:cNvSpPr/>
          <p:nvPr/>
        </p:nvSpPr>
        <p:spPr>
          <a:xfrm>
            <a:off x="1047750" y="7254240"/>
            <a:ext cx="57912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0"/>
          <p:cNvSpPr/>
          <p:nvPr/>
        </p:nvSpPr>
        <p:spPr>
          <a:xfrm>
            <a:off x="1893570" y="7101840"/>
            <a:ext cx="812857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4800"/>
              <a:buFont typeface="IBM Plex Serif"/>
              <a:buNone/>
            </a:pPr>
            <a:r>
              <a:rPr b="1" i="0" lang="en-US" spc="-72" sz="48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Alinhamento apenas viral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0"/>
          <p:cNvSpPr/>
          <p:nvPr/>
        </p:nvSpPr>
        <p:spPr>
          <a:xfrm>
            <a:off x="1047750" y="8119110"/>
            <a:ext cx="57912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0"/>
          <p:cNvSpPr/>
          <p:nvPr/>
        </p:nvSpPr>
        <p:spPr>
          <a:xfrm>
            <a:off x="1893570" y="7966710"/>
            <a:ext cx="655145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4800"/>
              <a:buFont typeface="IBM Plex Serif"/>
              <a:buNone/>
            </a:pPr>
            <a:r>
              <a:rPr b="1" i="0" lang="en-US" spc="-72" sz="48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Análise de cobertura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0"/>
          <p:cNvSpPr/>
          <p:nvPr/>
        </p:nvSpPr>
        <p:spPr>
          <a:xfrm>
            <a:off x="1047750" y="8983980"/>
            <a:ext cx="57912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0"/>
          <p:cNvSpPr/>
          <p:nvPr/>
        </p:nvSpPr>
        <p:spPr>
          <a:xfrm>
            <a:off x="1893570" y="8831580"/>
            <a:ext cx="621617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4800"/>
              <a:buFont typeface="IBM Plex Serif"/>
              <a:buNone/>
            </a:pPr>
            <a:r>
              <a:rPr b="1" i="0" lang="en-US" spc="-72" sz="48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Visualização no IGV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31"/>
          <p:cNvSpPr/>
          <p:nvPr/>
        </p:nvSpPr>
        <p:spPr>
          <a:xfrm>
            <a:off x="1047750" y="952500"/>
            <a:ext cx="9593723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956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9600"/>
              <a:buFont typeface="IBM Plex Serif"/>
              <a:buNone/>
            </a:pPr>
            <a:r>
              <a:rPr b="1" i="0" lang="en-US" spc="-144" sz="96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Obrigado!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1"/>
          <p:cNvSpPr/>
          <p:nvPr/>
        </p:nvSpPr>
        <p:spPr>
          <a:xfrm>
            <a:off x="1047750" y="2552700"/>
            <a:ext cx="959372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Dúvidas e perguntas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1"/>
          <p:cNvSpPr/>
          <p:nvPr/>
        </p:nvSpPr>
        <p:spPr>
          <a:xfrm>
            <a:off x="1047750" y="9174480"/>
            <a:ext cx="959372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leandro_goncalves@usp.br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3" name="Google Shape;10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9575" y="952500"/>
            <a:ext cx="5080675" cy="3885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4" name="Google Shape;103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9387" y="7844550"/>
            <a:ext cx="4773575" cy="171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5" name="Google Shape;103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81425" y="8049650"/>
            <a:ext cx="3458825" cy="14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